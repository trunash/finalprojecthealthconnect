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62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730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[morning/afternoon]. Today I'm walking you through HealthConnect — a project that took a straightforward data-cleaning task and turned it into something the clinic can actually act on. The headline number: we've flagged 213 patients who have a 69.95% chance of missing their next appointment.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start with why this matters. Right now, almost half of all scheduled appointments — 48.46% — end in a no-show. That's a huge amount of wasted staff time and capacity. When we dug into the data, three factors stood out as strong predictors: patients booked more than 30 days in advance miss 64% of the time, patients who've already missed two or more visits miss again 63% of the time, and patients living 20km or more from the clinic miss 60% of the time. Of the three, lead time — how far ahead the visit was booked — turned out to be the single biggest driver.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what did we do with that? We built a scoring system directly in Power BI. Three DAX measures calculate each patient's risk, and a Risk Level rule automatically sorts everyone into Low, Medium, or High risk. That output is saved in a table called patient_risk_segments, so it's ready for anyone — staff or other systems — to use. And it holds up: patients scored Low risk have a real no-show rate of 21.77%, while High-risk patients sit at 59.53%. That's a 2.7x difference — proof the scoring is actually separating the right people.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Then we stress-tested it on the hardest group we had: the Mobile Clinic cohort, patients living 30km or more away — 213 people in total. Of those, 20 came back Critical risk at a 60% no-show rate, and 193 came back High risk at 70.98%. Put together, the whole group averaged 69.95% — and the fact that our count came back exactly 213 confirms every patient flowed through the model correctly, start to finish. That 69.95% is well above the clinic's 48.46% baseline, which is the proof this model works.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here's what we're recommending. For patients 20 to 30km away, offer transport support — vouchers or shuttle options. For patients 30km or more away, send the Mobile Clinic, and prioritize those 193 High-risk patients first. From here, the handoff is to Engineering: build this same scoring rule into the scheduling system so every new booking gets scored automatically, with no manual step. If this works as expected, we're looking at roughly 107 recovered appointments.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39508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4258000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9727217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1358884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9/24/2026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2983301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9/24/2026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9424724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9/24/2026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5370347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9/24/2026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961090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898865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58758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324024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6990312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23852725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9/24/2026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311916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9/24/2026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0957085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2265873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7094014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02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40000"/>
            <a:lumOff val="60000"/>
            <a:alpha val="12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9/24/2026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667247604"/>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028090">
              <a:alpha val="45000"/>
            </a:srgbClr>
          </a:solidFill>
          <a:ln/>
        </p:spPr>
      </p:sp>
      <p:sp>
        <p:nvSpPr>
          <p:cNvPr id="3" name="Shape 1"/>
          <p:cNvSpPr/>
          <p:nvPr/>
        </p:nvSpPr>
        <p:spPr>
          <a:xfrm>
            <a:off x="-1097280" y="4754880"/>
            <a:ext cx="3291840" cy="3291840"/>
          </a:xfrm>
          <a:prstGeom prst="ellipse">
            <a:avLst/>
          </a:prstGeom>
          <a:solidFill>
            <a:srgbClr val="00A896">
              <a:alpha val="40000"/>
            </a:srgbClr>
          </a:solidFill>
          <a:ln/>
        </p:spPr>
      </p:sp>
      <p:sp>
        <p:nvSpPr>
          <p:cNvPr id="4" name="Text 2"/>
          <p:cNvSpPr txBox="1"/>
          <p:nvPr/>
        </p:nvSpPr>
        <p:spPr>
          <a:xfrm>
            <a:off x="822960" y="1371600"/>
            <a:ext cx="7315200" cy="457200"/>
          </a:xfrm>
          <a:prstGeom prst="rect">
            <a:avLst/>
          </a:prstGeom>
          <a:noFill/>
          <a:ln/>
        </p:spPr>
        <p:txBody>
          <a:bodyPr wrap="square" lIns="0" tIns="0" rIns="0" bIns="0" rtlCol="0" anchor="ctr"/>
          <a:lstStyle/>
          <a:p>
            <a:pPr marL="0" indent="0">
              <a:buNone/>
            </a:pPr>
            <a:r>
              <a:rPr lang="en-US" sz="2800" b="1" kern="0" spc="300" dirty="0">
                <a:solidFill>
                  <a:srgbClr val="02C39A"/>
                </a:solidFill>
                <a:latin typeface="Calibri" pitchFamily="34" charset="0"/>
                <a:ea typeface="Calibri" pitchFamily="34" charset="-122"/>
                <a:cs typeface="Calibri" pitchFamily="34" charset="-120"/>
              </a:rPr>
              <a:t>HEALTHCONNECT</a:t>
            </a:r>
            <a:endParaRPr lang="en-US" sz="2800" dirty="0"/>
          </a:p>
        </p:txBody>
      </p:sp>
      <p:sp>
        <p:nvSpPr>
          <p:cNvPr id="5" name="Text 3"/>
          <p:cNvSpPr txBox="1"/>
          <p:nvPr/>
        </p:nvSpPr>
        <p:spPr>
          <a:xfrm>
            <a:off x="822960" y="1828800"/>
            <a:ext cx="9601200" cy="1463040"/>
          </a:xfrm>
          <a:prstGeom prst="rect">
            <a:avLst/>
          </a:prstGeom>
          <a:noFill/>
          <a:ln/>
        </p:spPr>
        <p:txBody>
          <a:bodyPr wrap="square" lIns="0" tIns="0" rIns="0" bIns="0" rtlCol="0" anchor="ctr"/>
          <a:lstStyle/>
          <a:p>
            <a:pPr marL="0" indent="0">
              <a:lnSpc>
                <a:spcPct val="105000"/>
              </a:lnSpc>
              <a:buNone/>
            </a:pPr>
            <a:r>
              <a:rPr lang="en-US" sz="4000" b="1" dirty="0">
                <a:solidFill>
                  <a:schemeClr val="bg1"/>
                </a:solidFill>
                <a:latin typeface="Bookman Old Style" pitchFamily="34" charset="0"/>
                <a:ea typeface="Bookman Old Style" pitchFamily="34" charset="-122"/>
                <a:cs typeface="Bookman Old Style" pitchFamily="34" charset="-120"/>
              </a:rPr>
              <a:t>From Cleaning Data to Real Impact</a:t>
            </a:r>
            <a:endParaRPr lang="en-US" sz="4000" dirty="0">
              <a:solidFill>
                <a:schemeClr val="bg1"/>
              </a:solidFill>
            </a:endParaRPr>
          </a:p>
        </p:txBody>
      </p:sp>
      <p:sp>
        <p:nvSpPr>
          <p:cNvPr id="6" name="Text 4"/>
          <p:cNvSpPr txBox="1"/>
          <p:nvPr/>
        </p:nvSpPr>
        <p:spPr>
          <a:xfrm>
            <a:off x="822960" y="3200400"/>
            <a:ext cx="7498080" cy="731520"/>
          </a:xfrm>
          <a:prstGeom prst="rect">
            <a:avLst/>
          </a:prstGeom>
          <a:noFill/>
          <a:ln/>
        </p:spPr>
        <p:txBody>
          <a:bodyPr wrap="square" lIns="0" tIns="0" rIns="0" bIns="0" rtlCol="0" anchor="ctr"/>
          <a:lstStyle/>
          <a:p>
            <a:pPr marL="0" indent="0">
              <a:buNone/>
            </a:pPr>
            <a:r>
              <a:rPr lang="en-US" sz="1600" i="1" dirty="0">
                <a:solidFill>
                  <a:srgbClr val="CFE8E6"/>
                </a:solidFill>
                <a:latin typeface="Calibri" pitchFamily="34" charset="0"/>
                <a:ea typeface="Calibri" pitchFamily="34" charset="-122"/>
                <a:cs typeface="Calibri" pitchFamily="34" charset="-120"/>
              </a:rPr>
              <a:t>How a simple risk score helps a clinic reach the patients most likely to miss their appointment</a:t>
            </a:r>
            <a:endParaRPr lang="en-US" sz="1600" dirty="0"/>
          </a:p>
        </p:txBody>
      </p:sp>
      <p:sp>
        <p:nvSpPr>
          <p:cNvPr id="7" name="Shape 5"/>
          <p:cNvSpPr/>
          <p:nvPr/>
        </p:nvSpPr>
        <p:spPr>
          <a:xfrm>
            <a:off x="822960" y="4297680"/>
            <a:ext cx="5120640" cy="1554480"/>
          </a:xfrm>
          <a:prstGeom prst="roundRect">
            <a:avLst>
              <a:gd name="adj" fmla="val 7059"/>
            </a:avLst>
          </a:prstGeom>
          <a:solidFill>
            <a:srgbClr val="FFFFFF"/>
          </a:solidFill>
          <a:ln/>
          <a:effectLst>
            <a:outerShdw blurRad="152400" dist="50800" dir="5400000" algn="bl" rotWithShape="0">
              <a:srgbClr val="000000">
                <a:alpha val="25000"/>
              </a:srgbClr>
            </a:outerShdw>
          </a:effectLst>
        </p:spPr>
      </p:sp>
      <p:sp>
        <p:nvSpPr>
          <p:cNvPr id="8" name="Text 6"/>
          <p:cNvSpPr txBox="1"/>
          <p:nvPr/>
        </p:nvSpPr>
        <p:spPr>
          <a:xfrm>
            <a:off x="1051560" y="4434840"/>
            <a:ext cx="1828800" cy="1188720"/>
          </a:xfrm>
          <a:prstGeom prst="rect">
            <a:avLst/>
          </a:prstGeom>
          <a:noFill/>
          <a:ln/>
        </p:spPr>
        <p:txBody>
          <a:bodyPr wrap="square" lIns="0" tIns="0" rIns="0" bIns="0" rtlCol="0" anchor="ctr"/>
          <a:lstStyle/>
          <a:p>
            <a:pPr marL="0" indent="0">
              <a:buNone/>
            </a:pPr>
            <a:r>
              <a:rPr lang="en-US" sz="5400" b="1" dirty="0">
                <a:solidFill>
                  <a:srgbClr val="028090"/>
                </a:solidFill>
                <a:latin typeface="Bookman Old Style" pitchFamily="34" charset="0"/>
                <a:ea typeface="Bookman Old Style" pitchFamily="34" charset="-122"/>
                <a:cs typeface="Bookman Old Style" pitchFamily="34" charset="-120"/>
              </a:rPr>
              <a:t>213</a:t>
            </a:r>
            <a:endParaRPr lang="en-US" sz="5400" dirty="0"/>
          </a:p>
        </p:txBody>
      </p:sp>
      <p:sp>
        <p:nvSpPr>
          <p:cNvPr id="9" name="Text 7"/>
          <p:cNvSpPr txBox="1"/>
          <p:nvPr/>
        </p:nvSpPr>
        <p:spPr>
          <a:xfrm>
            <a:off x="2880360" y="4434840"/>
            <a:ext cx="2880360" cy="1188720"/>
          </a:xfrm>
          <a:prstGeom prst="rect">
            <a:avLst/>
          </a:prstGeom>
          <a:noFill/>
          <a:ln/>
        </p:spPr>
        <p:txBody>
          <a:bodyPr wrap="square" lIns="0" tIns="0" rIns="0" bIns="0" rtlCol="0" anchor="ctr"/>
          <a:lstStyle/>
          <a:p>
            <a:pPr marL="0" indent="0">
              <a:buNone/>
            </a:pPr>
            <a:r>
              <a:rPr lang="en-US" sz="1300" dirty="0">
                <a:solidFill>
                  <a:srgbClr val="1A2B2C"/>
                </a:solidFill>
                <a:latin typeface="Calibri" pitchFamily="34" charset="0"/>
                <a:ea typeface="Calibri" pitchFamily="34" charset="-122"/>
                <a:cs typeface="Calibri" pitchFamily="34" charset="-120"/>
              </a:rPr>
              <a:t>patients flagged at </a:t>
            </a:r>
            <a:r>
              <a:rPr lang="en-US" sz="1300" b="1" dirty="0">
                <a:solidFill>
                  <a:srgbClr val="D64550"/>
                </a:solidFill>
                <a:latin typeface="Calibri" pitchFamily="34" charset="0"/>
                <a:ea typeface="Calibri" pitchFamily="34" charset="-122"/>
                <a:cs typeface="Calibri" pitchFamily="34" charset="-120"/>
              </a:rPr>
              <a:t>69.95% risk</a:t>
            </a:r>
            <a:r>
              <a:rPr lang="en-US" sz="1300" dirty="0">
                <a:solidFill>
                  <a:srgbClr val="1A2B2C"/>
                </a:solidFill>
                <a:latin typeface="Calibri" pitchFamily="34" charset="0"/>
                <a:ea typeface="Calibri" pitchFamily="34" charset="-122"/>
                <a:cs typeface="Calibri" pitchFamily="34" charset="-120"/>
              </a:rPr>
              <a:t> of missing their next appointment</a:t>
            </a:r>
            <a:endParaRPr lang="en-US" sz="1300" dirty="0"/>
          </a:p>
        </p:txBody>
      </p:sp>
      <p:sp>
        <p:nvSpPr>
          <p:cNvPr id="10" name="Text 8"/>
          <p:cNvSpPr txBox="1"/>
          <p:nvPr/>
        </p:nvSpPr>
        <p:spPr>
          <a:xfrm>
            <a:off x="11247120" y="6446520"/>
            <a:ext cx="822960" cy="274320"/>
          </a:xfrm>
          <a:prstGeom prst="rect">
            <a:avLst/>
          </a:prstGeom>
          <a:noFill/>
          <a:ln/>
        </p:spPr>
        <p:txBody>
          <a:bodyPr wrap="square" lIns="0" tIns="0" rIns="0" bIns="0" rtlCol="0" anchor="ctr"/>
          <a:lstStyle/>
          <a:p>
            <a:pPr marL="0" indent="0" algn="r">
              <a:buNone/>
            </a:pPr>
            <a:r>
              <a:rPr lang="en-US" sz="1000" dirty="0">
                <a:solidFill>
                  <a:srgbClr val="5C7A7B"/>
                </a:solidFill>
                <a:latin typeface="Calibri" pitchFamily="34" charset="0"/>
                <a:ea typeface="Calibri" pitchFamily="34" charset="-122"/>
                <a:cs typeface="Calibri" pitchFamily="34" charset="-120"/>
              </a:rPr>
              <a:t>01 / 05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5486400" cy="365760"/>
          </a:xfrm>
          <a:prstGeom prst="rect">
            <a:avLst/>
          </a:prstGeom>
          <a:noFill/>
          <a:ln/>
        </p:spPr>
        <p:txBody>
          <a:bodyPr wrap="square" lIns="0" tIns="0" rIns="0" bIns="0" rtlCol="0" anchor="ctr"/>
          <a:lstStyle/>
          <a:p>
            <a:pPr marL="0" indent="0">
              <a:buNone/>
            </a:pPr>
            <a:r>
              <a:rPr lang="en-US" sz="2800" b="1" kern="0" spc="200" dirty="0">
                <a:solidFill>
                  <a:srgbClr val="028090"/>
                </a:solidFill>
                <a:latin typeface="Calibri" pitchFamily="34" charset="0"/>
                <a:ea typeface="Calibri" pitchFamily="34" charset="-122"/>
                <a:cs typeface="Calibri" pitchFamily="34" charset="-120"/>
              </a:rPr>
              <a:t>THE PROBLEM</a:t>
            </a:r>
            <a:endParaRPr lang="en-US" sz="2800" dirty="0"/>
          </a:p>
        </p:txBody>
      </p:sp>
      <p:sp>
        <p:nvSpPr>
          <p:cNvPr id="3" name="Text 1"/>
          <p:cNvSpPr txBox="1"/>
          <p:nvPr/>
        </p:nvSpPr>
        <p:spPr>
          <a:xfrm>
            <a:off x="640080" y="731520"/>
            <a:ext cx="10881360" cy="822960"/>
          </a:xfrm>
          <a:prstGeom prst="rect">
            <a:avLst/>
          </a:prstGeom>
          <a:noFill/>
          <a:ln/>
        </p:spPr>
        <p:txBody>
          <a:bodyPr wrap="square" lIns="0" tIns="0" rIns="0" bIns="0" rtlCol="0" anchor="ctr"/>
          <a:lstStyle/>
          <a:p>
            <a:pPr marL="0" indent="0">
              <a:buNone/>
            </a:pPr>
            <a:r>
              <a:rPr lang="en-US" sz="2800" b="1" dirty="0">
                <a:solidFill>
                  <a:srgbClr val="1A2B2C"/>
                </a:solidFill>
                <a:latin typeface="Bookman Old Style" pitchFamily="34" charset="0"/>
                <a:ea typeface="Bookman Old Style" pitchFamily="34" charset="-122"/>
                <a:cs typeface="Bookman Old Style" pitchFamily="34" charset="-120"/>
              </a:rPr>
              <a:t>Nearly half of all patients miss their appointment</a:t>
            </a:r>
            <a:endParaRPr lang="en-US" sz="2800" dirty="0"/>
          </a:p>
        </p:txBody>
      </p:sp>
      <p:sp>
        <p:nvSpPr>
          <p:cNvPr id="4" name="Shape 2"/>
          <p:cNvSpPr/>
          <p:nvPr/>
        </p:nvSpPr>
        <p:spPr>
          <a:xfrm>
            <a:off x="640080" y="1783080"/>
            <a:ext cx="3200400" cy="4297680"/>
          </a:xfrm>
          <a:prstGeom prst="roundRect">
            <a:avLst>
              <a:gd name="adj" fmla="val 3429"/>
            </a:avLst>
          </a:prstGeom>
          <a:solidFill>
            <a:srgbClr val="0B3D3F"/>
          </a:solidFill>
          <a:ln/>
        </p:spPr>
      </p:sp>
      <p:sp>
        <p:nvSpPr>
          <p:cNvPr id="5" name="Text 3"/>
          <p:cNvSpPr txBox="1"/>
          <p:nvPr/>
        </p:nvSpPr>
        <p:spPr>
          <a:xfrm>
            <a:off x="822960" y="2377440"/>
            <a:ext cx="2834640" cy="914400"/>
          </a:xfrm>
          <a:prstGeom prst="rect">
            <a:avLst/>
          </a:prstGeom>
          <a:noFill/>
          <a:ln/>
        </p:spPr>
        <p:txBody>
          <a:bodyPr wrap="square" lIns="0" tIns="0" rIns="0" bIns="0" rtlCol="0" anchor="ctr"/>
          <a:lstStyle/>
          <a:p>
            <a:pPr marL="0" indent="0" algn="ctr">
              <a:buNone/>
            </a:pPr>
            <a:r>
              <a:rPr lang="en-US" sz="4400" b="1" dirty="0">
                <a:solidFill>
                  <a:srgbClr val="02C39A"/>
                </a:solidFill>
                <a:latin typeface="Bookman Old Style" pitchFamily="34" charset="0"/>
                <a:ea typeface="Bookman Old Style" pitchFamily="34" charset="-122"/>
                <a:cs typeface="Bookman Old Style" pitchFamily="34" charset="-120"/>
              </a:rPr>
              <a:t>48.46%</a:t>
            </a:r>
            <a:endParaRPr lang="en-US" sz="4400" dirty="0"/>
          </a:p>
        </p:txBody>
      </p:sp>
      <p:sp>
        <p:nvSpPr>
          <p:cNvPr id="6" name="Text 4"/>
          <p:cNvSpPr txBox="1"/>
          <p:nvPr/>
        </p:nvSpPr>
        <p:spPr>
          <a:xfrm>
            <a:off x="822960" y="3291840"/>
            <a:ext cx="2834640" cy="1005840"/>
          </a:xfrm>
          <a:prstGeom prst="rect">
            <a:avLst/>
          </a:prstGeom>
          <a:noFill/>
          <a:ln/>
        </p:spPr>
        <p:txBody>
          <a:bodyPr wrap="square" lIns="0" tIns="0" rIns="0" bIns="0" rtlCol="0" anchor="ctr"/>
          <a:lstStyle/>
          <a:p>
            <a:pPr marL="0" indent="0" algn="ctr">
              <a:lnSpc>
                <a:spcPct val="120000"/>
              </a:lnSpc>
              <a:buNone/>
            </a:pPr>
            <a:r>
              <a:rPr lang="en-US" sz="1400" dirty="0">
                <a:solidFill>
                  <a:srgbClr val="FFFFFF"/>
                </a:solidFill>
                <a:latin typeface="Calibri" pitchFamily="34" charset="0"/>
                <a:ea typeface="Calibri" pitchFamily="34" charset="-122"/>
                <a:cs typeface="Calibri" pitchFamily="34" charset="-120"/>
              </a:rPr>
              <a:t>of all patients</a:t>
            </a:r>
            <a:endParaRPr lang="en-US" sz="1400" dirty="0"/>
          </a:p>
          <a:p>
            <a:pPr marL="0" indent="0" algn="ctr">
              <a:lnSpc>
                <a:spcPct val="120000"/>
              </a:lnSpc>
              <a:buNone/>
            </a:pPr>
            <a:r>
              <a:rPr lang="en-US" sz="1400" dirty="0">
                <a:solidFill>
                  <a:srgbClr val="FFFFFF"/>
                </a:solidFill>
                <a:latin typeface="Calibri" pitchFamily="34" charset="0"/>
                <a:ea typeface="Calibri" pitchFamily="34" charset="-122"/>
                <a:cs typeface="Calibri" pitchFamily="34" charset="-120"/>
              </a:rPr>
              <a:t>do not show up</a:t>
            </a:r>
            <a:endParaRPr lang="en-US" sz="1400" dirty="0"/>
          </a:p>
          <a:p>
            <a:pPr marL="0" indent="0" algn="ctr">
              <a:lnSpc>
                <a:spcPct val="120000"/>
              </a:lnSpc>
              <a:buNone/>
            </a:pPr>
            <a:r>
              <a:rPr lang="en-US" sz="1400" dirty="0">
                <a:solidFill>
                  <a:srgbClr val="FFFFFF"/>
                </a:solidFill>
                <a:latin typeface="Calibri" pitchFamily="34" charset="0"/>
                <a:ea typeface="Calibri" pitchFamily="34" charset="-122"/>
                <a:cs typeface="Calibri" pitchFamily="34" charset="-120"/>
              </a:rPr>
              <a:t>for their appointment</a:t>
            </a:r>
            <a:endParaRPr lang="en-US" sz="1400" dirty="0"/>
          </a:p>
        </p:txBody>
      </p:sp>
      <p:sp>
        <p:nvSpPr>
          <p:cNvPr id="7" name="Shape 5"/>
          <p:cNvSpPr/>
          <p:nvPr/>
        </p:nvSpPr>
        <p:spPr>
          <a:xfrm>
            <a:off x="1097280" y="4434840"/>
            <a:ext cx="2286000" cy="0"/>
          </a:xfrm>
          <a:prstGeom prst="line">
            <a:avLst/>
          </a:prstGeom>
          <a:noFill/>
          <a:ln w="19050">
            <a:solidFill>
              <a:srgbClr val="00A896"/>
            </a:solidFill>
            <a:prstDash val="solid"/>
          </a:ln>
        </p:spPr>
      </p:sp>
      <p:sp>
        <p:nvSpPr>
          <p:cNvPr id="8" name="Text 6"/>
          <p:cNvSpPr txBox="1"/>
          <p:nvPr/>
        </p:nvSpPr>
        <p:spPr>
          <a:xfrm>
            <a:off x="822960" y="4617720"/>
            <a:ext cx="2834640" cy="1188720"/>
          </a:xfrm>
          <a:prstGeom prst="rect">
            <a:avLst/>
          </a:prstGeom>
          <a:noFill/>
          <a:ln/>
        </p:spPr>
        <p:txBody>
          <a:bodyPr wrap="square" lIns="0" tIns="0" rIns="0" bIns="0" rtlCol="0" anchor="ctr"/>
          <a:lstStyle/>
          <a:p>
            <a:pPr marL="0" indent="0">
              <a:buNone/>
            </a:pPr>
            <a:r>
              <a:rPr lang="en-US" sz="1200" i="1" dirty="0">
                <a:solidFill>
                  <a:srgbClr val="CFE8E6"/>
                </a:solidFill>
                <a:latin typeface="Calibri" pitchFamily="34" charset="0"/>
                <a:ea typeface="Calibri" pitchFamily="34" charset="-122"/>
                <a:cs typeface="Calibri" pitchFamily="34" charset="-120"/>
              </a:rPr>
              <a:t>That's almost 1 in every 2 visits, wasting staff time and clinic capacity.</a:t>
            </a:r>
            <a:endParaRPr lang="en-US" sz="1200" dirty="0"/>
          </a:p>
        </p:txBody>
      </p:sp>
      <p:sp>
        <p:nvSpPr>
          <p:cNvPr id="9" name="Shape 7"/>
          <p:cNvSpPr/>
          <p:nvPr/>
        </p:nvSpPr>
        <p:spPr>
          <a:xfrm>
            <a:off x="4206240" y="1874520"/>
            <a:ext cx="502920" cy="502920"/>
          </a:xfrm>
          <a:prstGeom prst="ellipse">
            <a:avLst/>
          </a:prstGeom>
          <a:solidFill>
            <a:srgbClr val="028090"/>
          </a:solidFill>
          <a:ln/>
        </p:spPr>
      </p:sp>
      <p:sp>
        <p:nvSpPr>
          <p:cNvPr id="10" name="Text 8"/>
          <p:cNvSpPr txBox="1"/>
          <p:nvPr/>
        </p:nvSpPr>
        <p:spPr>
          <a:xfrm>
            <a:off x="4206240" y="1874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9"/>
          <p:cNvSpPr txBox="1"/>
          <p:nvPr/>
        </p:nvSpPr>
        <p:spPr>
          <a:xfrm>
            <a:off x="4892040" y="1783080"/>
            <a:ext cx="4754880" cy="365760"/>
          </a:xfrm>
          <a:prstGeom prst="rect">
            <a:avLst/>
          </a:prstGeom>
          <a:noFill/>
          <a:ln/>
        </p:spPr>
        <p:txBody>
          <a:bodyPr wrap="square" lIns="0" tIns="0" rIns="0" bIns="0" rtlCol="0" anchor="b"/>
          <a:lstStyle/>
          <a:p>
            <a:pPr marL="0" indent="0">
              <a:buNone/>
            </a:pPr>
            <a:r>
              <a:rPr lang="en-US" sz="1600" b="1" dirty="0">
                <a:solidFill>
                  <a:srgbClr val="1A2B2C"/>
                </a:solidFill>
                <a:latin typeface="Calibri" pitchFamily="34" charset="0"/>
                <a:ea typeface="Calibri" pitchFamily="34" charset="-122"/>
                <a:cs typeface="Calibri" pitchFamily="34" charset="-120"/>
              </a:rPr>
              <a:t>Booked 30+ days ahead</a:t>
            </a:r>
            <a:endParaRPr lang="en-US" sz="1600" dirty="0"/>
          </a:p>
        </p:txBody>
      </p:sp>
      <p:sp>
        <p:nvSpPr>
          <p:cNvPr id="12" name="Text 10"/>
          <p:cNvSpPr txBox="1"/>
          <p:nvPr/>
        </p:nvSpPr>
        <p:spPr>
          <a:xfrm>
            <a:off x="4892040" y="2148840"/>
            <a:ext cx="5120640" cy="45720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The longer the wait, the more likely people forget or move on</a:t>
            </a:r>
            <a:endParaRPr lang="en-US" sz="1400" dirty="0">
              <a:solidFill>
                <a:schemeClr val="bg1"/>
              </a:solidFill>
            </a:endParaRPr>
          </a:p>
        </p:txBody>
      </p:sp>
      <p:sp>
        <p:nvSpPr>
          <p:cNvPr id="13" name="Text 11"/>
          <p:cNvSpPr txBox="1"/>
          <p:nvPr/>
        </p:nvSpPr>
        <p:spPr>
          <a:xfrm>
            <a:off x="9966960" y="1737360"/>
            <a:ext cx="1371600" cy="731520"/>
          </a:xfrm>
          <a:prstGeom prst="rect">
            <a:avLst/>
          </a:prstGeom>
          <a:noFill/>
          <a:ln/>
        </p:spPr>
        <p:txBody>
          <a:bodyPr wrap="square" lIns="0" tIns="0" rIns="0" bIns="0" rtlCol="0" anchor="ctr"/>
          <a:lstStyle/>
          <a:p>
            <a:pPr marL="0" indent="0" algn="r">
              <a:buNone/>
            </a:pPr>
            <a:r>
              <a:rPr lang="en-US" sz="2600" b="1" dirty="0">
                <a:solidFill>
                  <a:srgbClr val="D64550"/>
                </a:solidFill>
                <a:latin typeface="Bookman Old Style" pitchFamily="34" charset="0"/>
                <a:ea typeface="Bookman Old Style" pitchFamily="34" charset="-122"/>
                <a:cs typeface="Bookman Old Style" pitchFamily="34" charset="-120"/>
              </a:rPr>
              <a:t>64%</a:t>
            </a:r>
            <a:endParaRPr lang="en-US" sz="2600" dirty="0"/>
          </a:p>
        </p:txBody>
      </p:sp>
      <p:sp>
        <p:nvSpPr>
          <p:cNvPr id="14" name="Shape 12"/>
          <p:cNvSpPr/>
          <p:nvPr/>
        </p:nvSpPr>
        <p:spPr>
          <a:xfrm>
            <a:off x="4206240" y="2926080"/>
            <a:ext cx="502920" cy="502920"/>
          </a:xfrm>
          <a:prstGeom prst="ellipse">
            <a:avLst/>
          </a:prstGeom>
          <a:solidFill>
            <a:srgbClr val="00A896"/>
          </a:solidFill>
          <a:ln/>
        </p:spPr>
      </p:sp>
      <p:sp>
        <p:nvSpPr>
          <p:cNvPr id="15" name="Text 13"/>
          <p:cNvSpPr txBox="1"/>
          <p:nvPr/>
        </p:nvSpPr>
        <p:spPr>
          <a:xfrm>
            <a:off x="4206240" y="29260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4"/>
          <p:cNvSpPr txBox="1"/>
          <p:nvPr/>
        </p:nvSpPr>
        <p:spPr>
          <a:xfrm>
            <a:off x="4892040" y="2834640"/>
            <a:ext cx="4754880" cy="365760"/>
          </a:xfrm>
          <a:prstGeom prst="rect">
            <a:avLst/>
          </a:prstGeom>
          <a:noFill/>
          <a:ln/>
        </p:spPr>
        <p:txBody>
          <a:bodyPr wrap="square" lIns="0" tIns="0" rIns="0" bIns="0" rtlCol="0" anchor="b"/>
          <a:lstStyle/>
          <a:p>
            <a:pPr marL="0" indent="0">
              <a:buNone/>
            </a:pPr>
            <a:r>
              <a:rPr lang="en-US" sz="1600" b="1" dirty="0">
                <a:solidFill>
                  <a:srgbClr val="1A2B2C"/>
                </a:solidFill>
                <a:latin typeface="Calibri" pitchFamily="34" charset="0"/>
                <a:ea typeface="Calibri" pitchFamily="34" charset="-122"/>
                <a:cs typeface="Calibri" pitchFamily="34" charset="-120"/>
              </a:rPr>
              <a:t>Missed 2+ appointments before</a:t>
            </a:r>
            <a:endParaRPr lang="en-US" sz="1600" dirty="0"/>
          </a:p>
        </p:txBody>
      </p:sp>
      <p:sp>
        <p:nvSpPr>
          <p:cNvPr id="17" name="Text 15"/>
          <p:cNvSpPr txBox="1"/>
          <p:nvPr/>
        </p:nvSpPr>
        <p:spPr>
          <a:xfrm>
            <a:off x="4892040" y="3200400"/>
            <a:ext cx="5120640" cy="45720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Past behavior is a strong signal of future behavior</a:t>
            </a:r>
            <a:endParaRPr lang="en-US" sz="1400" dirty="0">
              <a:solidFill>
                <a:schemeClr val="bg1"/>
              </a:solidFill>
            </a:endParaRPr>
          </a:p>
        </p:txBody>
      </p:sp>
      <p:sp>
        <p:nvSpPr>
          <p:cNvPr id="18" name="Text 16"/>
          <p:cNvSpPr txBox="1"/>
          <p:nvPr/>
        </p:nvSpPr>
        <p:spPr>
          <a:xfrm>
            <a:off x="9966960" y="2788920"/>
            <a:ext cx="1371600" cy="731520"/>
          </a:xfrm>
          <a:prstGeom prst="rect">
            <a:avLst/>
          </a:prstGeom>
          <a:noFill/>
          <a:ln/>
        </p:spPr>
        <p:txBody>
          <a:bodyPr wrap="square" lIns="0" tIns="0" rIns="0" bIns="0" rtlCol="0" anchor="ctr"/>
          <a:lstStyle/>
          <a:p>
            <a:pPr marL="0" indent="0" algn="r">
              <a:buNone/>
            </a:pPr>
            <a:r>
              <a:rPr lang="en-US" sz="2600" b="1" dirty="0">
                <a:solidFill>
                  <a:srgbClr val="028090"/>
                </a:solidFill>
                <a:latin typeface="Bookman Old Style" pitchFamily="34" charset="0"/>
                <a:ea typeface="Bookman Old Style" pitchFamily="34" charset="-122"/>
                <a:cs typeface="Bookman Old Style" pitchFamily="34" charset="-120"/>
              </a:rPr>
              <a:t>63%</a:t>
            </a:r>
            <a:endParaRPr lang="en-US" sz="2600" dirty="0"/>
          </a:p>
        </p:txBody>
      </p:sp>
      <p:sp>
        <p:nvSpPr>
          <p:cNvPr id="19" name="Shape 17"/>
          <p:cNvSpPr/>
          <p:nvPr/>
        </p:nvSpPr>
        <p:spPr>
          <a:xfrm>
            <a:off x="4206240" y="3977640"/>
            <a:ext cx="502920" cy="502920"/>
          </a:xfrm>
          <a:prstGeom prst="ellipse">
            <a:avLst/>
          </a:prstGeom>
          <a:solidFill>
            <a:srgbClr val="00A896"/>
          </a:solidFill>
          <a:ln/>
        </p:spPr>
      </p:sp>
      <p:sp>
        <p:nvSpPr>
          <p:cNvPr id="20" name="Text 18"/>
          <p:cNvSpPr txBox="1"/>
          <p:nvPr/>
        </p:nvSpPr>
        <p:spPr>
          <a:xfrm>
            <a:off x="4206240" y="39776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9"/>
          <p:cNvSpPr txBox="1"/>
          <p:nvPr/>
        </p:nvSpPr>
        <p:spPr>
          <a:xfrm>
            <a:off x="4892040" y="3886200"/>
            <a:ext cx="4754880" cy="365760"/>
          </a:xfrm>
          <a:prstGeom prst="rect">
            <a:avLst/>
          </a:prstGeom>
          <a:noFill/>
          <a:ln/>
        </p:spPr>
        <p:txBody>
          <a:bodyPr wrap="square" lIns="0" tIns="0" rIns="0" bIns="0" rtlCol="0" anchor="b"/>
          <a:lstStyle/>
          <a:p>
            <a:pPr marL="0" indent="0">
              <a:buNone/>
            </a:pPr>
            <a:r>
              <a:rPr lang="en-US" sz="1600" b="1" dirty="0">
                <a:solidFill>
                  <a:srgbClr val="1A2B2C"/>
                </a:solidFill>
                <a:latin typeface="Calibri" pitchFamily="34" charset="0"/>
                <a:ea typeface="Calibri" pitchFamily="34" charset="-122"/>
                <a:cs typeface="Calibri" pitchFamily="34" charset="-120"/>
              </a:rPr>
              <a:t>Lives 20km+ from the clinic</a:t>
            </a:r>
            <a:endParaRPr lang="en-US" sz="1600" dirty="0"/>
          </a:p>
        </p:txBody>
      </p:sp>
      <p:sp>
        <p:nvSpPr>
          <p:cNvPr id="22" name="Text 20"/>
          <p:cNvSpPr txBox="1"/>
          <p:nvPr/>
        </p:nvSpPr>
        <p:spPr>
          <a:xfrm>
            <a:off x="4892040" y="4251960"/>
            <a:ext cx="5120640" cy="45720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Distance and transport cost make it harder to show up</a:t>
            </a:r>
            <a:endParaRPr lang="en-US" sz="1400" dirty="0">
              <a:solidFill>
                <a:schemeClr val="bg1"/>
              </a:solidFill>
            </a:endParaRPr>
          </a:p>
        </p:txBody>
      </p:sp>
      <p:sp>
        <p:nvSpPr>
          <p:cNvPr id="23" name="Text 21"/>
          <p:cNvSpPr txBox="1"/>
          <p:nvPr/>
        </p:nvSpPr>
        <p:spPr>
          <a:xfrm>
            <a:off x="9966960" y="3840480"/>
            <a:ext cx="1371600" cy="731520"/>
          </a:xfrm>
          <a:prstGeom prst="rect">
            <a:avLst/>
          </a:prstGeom>
          <a:noFill/>
          <a:ln/>
        </p:spPr>
        <p:txBody>
          <a:bodyPr wrap="square" lIns="0" tIns="0" rIns="0" bIns="0" rtlCol="0" anchor="ctr"/>
          <a:lstStyle/>
          <a:p>
            <a:pPr marL="0" indent="0" algn="r">
              <a:buNone/>
            </a:pPr>
            <a:r>
              <a:rPr lang="en-US" sz="2600" b="1" dirty="0">
                <a:solidFill>
                  <a:srgbClr val="028090"/>
                </a:solidFill>
                <a:latin typeface="Bookman Old Style" pitchFamily="34" charset="0"/>
                <a:ea typeface="Bookman Old Style" pitchFamily="34" charset="-122"/>
                <a:cs typeface="Bookman Old Style" pitchFamily="34" charset="-120"/>
              </a:rPr>
              <a:t>60%</a:t>
            </a:r>
            <a:endParaRPr lang="en-US" sz="2600" dirty="0"/>
          </a:p>
        </p:txBody>
      </p:sp>
      <p:sp>
        <p:nvSpPr>
          <p:cNvPr id="24" name="Shape 22"/>
          <p:cNvSpPr/>
          <p:nvPr/>
        </p:nvSpPr>
        <p:spPr>
          <a:xfrm>
            <a:off x="4206240" y="5074920"/>
            <a:ext cx="7132320" cy="777240"/>
          </a:xfrm>
          <a:prstGeom prst="roundRect">
            <a:avLst>
              <a:gd name="adj" fmla="val 11765"/>
            </a:avLst>
          </a:prstGeom>
          <a:solidFill>
            <a:srgbClr val="E4F3F1"/>
          </a:solidFill>
          <a:ln/>
        </p:spPr>
      </p:sp>
      <p:sp>
        <p:nvSpPr>
          <p:cNvPr id="25" name="Text 23"/>
          <p:cNvSpPr txBox="1"/>
          <p:nvPr/>
        </p:nvSpPr>
        <p:spPr>
          <a:xfrm>
            <a:off x="4434840" y="5074920"/>
            <a:ext cx="6675120" cy="77724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Key finding:  </a:t>
            </a:r>
            <a:r>
              <a:rPr lang="en-US" dirty="0">
                <a:solidFill>
                  <a:schemeClr val="bg1"/>
                </a:solidFill>
                <a:latin typeface="Calibri" pitchFamily="34" charset="0"/>
                <a:ea typeface="Calibri" pitchFamily="34" charset="-122"/>
                <a:cs typeface="Calibri" pitchFamily="34" charset="-120"/>
              </a:rPr>
              <a:t>how far in advance a visit is booked is the single biggest driver of no-shows.</a:t>
            </a:r>
            <a:endParaRPr lang="en-US" dirty="0">
              <a:solidFill>
                <a:schemeClr val="bg1"/>
              </a:solidFill>
            </a:endParaRPr>
          </a:p>
        </p:txBody>
      </p:sp>
      <p:sp>
        <p:nvSpPr>
          <p:cNvPr id="26" name="Text 24"/>
          <p:cNvSpPr txBox="1"/>
          <p:nvPr/>
        </p:nvSpPr>
        <p:spPr>
          <a:xfrm>
            <a:off x="11247120" y="6446520"/>
            <a:ext cx="822960" cy="274320"/>
          </a:xfrm>
          <a:prstGeom prst="rect">
            <a:avLst/>
          </a:prstGeom>
          <a:noFill/>
          <a:ln/>
        </p:spPr>
        <p:txBody>
          <a:bodyPr wrap="square" lIns="0" tIns="0" rIns="0" bIns="0" rtlCol="0" anchor="ctr"/>
          <a:lstStyle/>
          <a:p>
            <a:pPr marL="0" indent="0" algn="r">
              <a:buNone/>
            </a:pPr>
            <a:r>
              <a:rPr lang="en-US" sz="1000" dirty="0">
                <a:solidFill>
                  <a:srgbClr val="5C7A7B"/>
                </a:solidFill>
                <a:latin typeface="Calibri" pitchFamily="34" charset="0"/>
                <a:ea typeface="Calibri" pitchFamily="34" charset="-122"/>
                <a:cs typeface="Calibri" pitchFamily="34" charset="-120"/>
              </a:rPr>
              <a:t>02 / 05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5486400" cy="365760"/>
          </a:xfrm>
          <a:prstGeom prst="rect">
            <a:avLst/>
          </a:prstGeom>
          <a:noFill/>
          <a:ln/>
        </p:spPr>
        <p:txBody>
          <a:bodyPr wrap="square" lIns="0" tIns="0" rIns="0" bIns="0" rtlCol="0" anchor="ctr"/>
          <a:lstStyle/>
          <a:p>
            <a:pPr marL="0" indent="0">
              <a:buNone/>
            </a:pPr>
            <a:r>
              <a:rPr lang="en-US" sz="2800" b="1" kern="0" spc="200" dirty="0">
                <a:solidFill>
                  <a:srgbClr val="028090"/>
                </a:solidFill>
                <a:latin typeface="Calibri" pitchFamily="34" charset="0"/>
                <a:ea typeface="Calibri" pitchFamily="34" charset="-122"/>
                <a:cs typeface="Calibri" pitchFamily="34" charset="-120"/>
              </a:rPr>
              <a:t>THE SOLUTION</a:t>
            </a:r>
            <a:endParaRPr lang="en-US" sz="2800" dirty="0"/>
          </a:p>
        </p:txBody>
      </p:sp>
      <p:sp>
        <p:nvSpPr>
          <p:cNvPr id="3" name="Text 1"/>
          <p:cNvSpPr txBox="1"/>
          <p:nvPr/>
        </p:nvSpPr>
        <p:spPr>
          <a:xfrm>
            <a:off x="640080" y="731520"/>
            <a:ext cx="10881360" cy="822960"/>
          </a:xfrm>
          <a:prstGeom prst="rect">
            <a:avLst/>
          </a:prstGeom>
          <a:noFill/>
          <a:ln/>
        </p:spPr>
        <p:txBody>
          <a:bodyPr wrap="square" lIns="0" tIns="0" rIns="0" bIns="0" rtlCol="0" anchor="ctr"/>
          <a:lstStyle/>
          <a:p>
            <a:pPr marL="0" indent="0">
              <a:buNone/>
            </a:pPr>
            <a:r>
              <a:rPr lang="en-US" sz="2800" b="1" dirty="0">
                <a:solidFill>
                  <a:srgbClr val="1A2B2C"/>
                </a:solidFill>
                <a:latin typeface="Bookman Old Style" pitchFamily="34" charset="0"/>
                <a:ea typeface="Bookman Old Style" pitchFamily="34" charset="-122"/>
                <a:cs typeface="Bookman Old Style" pitchFamily="34" charset="-120"/>
              </a:rPr>
              <a:t>A simple scoring system that sorts patients by risk</a:t>
            </a:r>
            <a:endParaRPr lang="en-US" sz="2800" dirty="0"/>
          </a:p>
        </p:txBody>
      </p:sp>
      <p:sp>
        <p:nvSpPr>
          <p:cNvPr id="4" name="Shape 2"/>
          <p:cNvSpPr/>
          <p:nvPr/>
        </p:nvSpPr>
        <p:spPr>
          <a:xfrm>
            <a:off x="640080" y="1828800"/>
            <a:ext cx="457200" cy="457200"/>
          </a:xfrm>
          <a:prstGeom prst="ellipse">
            <a:avLst/>
          </a:prstGeom>
          <a:solidFill>
            <a:srgbClr val="028090"/>
          </a:solidFill>
          <a:ln/>
        </p:spPr>
      </p:sp>
      <p:sp>
        <p:nvSpPr>
          <p:cNvPr id="5" name="Text 3"/>
          <p:cNvSpPr txBox="1"/>
          <p:nvPr/>
        </p:nvSpPr>
        <p:spPr>
          <a:xfrm>
            <a:off x="640080" y="182880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325880" y="1783080"/>
            <a:ext cx="4572000" cy="365760"/>
          </a:xfrm>
          <a:prstGeom prst="rect">
            <a:avLst/>
          </a:prstGeom>
          <a:noFill/>
          <a:ln/>
        </p:spPr>
        <p:txBody>
          <a:bodyPr wrap="square" lIns="0" tIns="0" rIns="0" bIns="0" rtlCol="0" anchor="ctr"/>
          <a:lstStyle/>
          <a:p>
            <a:pPr marL="0" indent="0">
              <a:buNone/>
            </a:pPr>
            <a:r>
              <a:rPr lang="en-US" sz="1500" b="1" dirty="0">
                <a:solidFill>
                  <a:srgbClr val="1A2B2C"/>
                </a:solidFill>
                <a:latin typeface="Calibri" pitchFamily="34" charset="0"/>
                <a:ea typeface="Calibri" pitchFamily="34" charset="-122"/>
                <a:cs typeface="Calibri" pitchFamily="34" charset="-120"/>
              </a:rPr>
              <a:t>Built the scoring formula</a:t>
            </a:r>
            <a:endParaRPr lang="en-US" sz="1500" dirty="0"/>
          </a:p>
        </p:txBody>
      </p:sp>
      <p:sp>
        <p:nvSpPr>
          <p:cNvPr id="7" name="Text 5"/>
          <p:cNvSpPr txBox="1"/>
          <p:nvPr/>
        </p:nvSpPr>
        <p:spPr>
          <a:xfrm>
            <a:off x="1325880" y="2148840"/>
            <a:ext cx="4709160" cy="777240"/>
          </a:xfrm>
          <a:prstGeom prst="rect">
            <a:avLst/>
          </a:prstGeom>
          <a:noFill/>
          <a:ln/>
        </p:spPr>
        <p:txBody>
          <a:bodyPr wrap="square" lIns="0" tIns="0" rIns="0" bIns="0"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Three measures in Power BI, using DAX (Power BI's formula language), calculate each patient's risk from lead time, past visits, and distance.</a:t>
            </a:r>
            <a:endParaRPr lang="en-US" sz="1400" dirty="0">
              <a:solidFill>
                <a:schemeClr val="bg1"/>
              </a:solidFill>
            </a:endParaRPr>
          </a:p>
        </p:txBody>
      </p:sp>
      <p:sp>
        <p:nvSpPr>
          <p:cNvPr id="8" name="Shape 6"/>
          <p:cNvSpPr/>
          <p:nvPr/>
        </p:nvSpPr>
        <p:spPr>
          <a:xfrm>
            <a:off x="640080" y="3063240"/>
            <a:ext cx="457200" cy="457200"/>
          </a:xfrm>
          <a:prstGeom prst="ellipse">
            <a:avLst/>
          </a:prstGeom>
          <a:solidFill>
            <a:srgbClr val="028090"/>
          </a:solidFill>
          <a:ln/>
        </p:spPr>
      </p:sp>
      <p:sp>
        <p:nvSpPr>
          <p:cNvPr id="9" name="Text 7"/>
          <p:cNvSpPr txBox="1"/>
          <p:nvPr/>
        </p:nvSpPr>
        <p:spPr>
          <a:xfrm>
            <a:off x="640080" y="30632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1325880" y="3017520"/>
            <a:ext cx="4572000" cy="365760"/>
          </a:xfrm>
          <a:prstGeom prst="rect">
            <a:avLst/>
          </a:prstGeom>
          <a:noFill/>
          <a:ln/>
        </p:spPr>
        <p:txBody>
          <a:bodyPr wrap="square" lIns="0" tIns="0" rIns="0" bIns="0" rtlCol="0" anchor="ctr"/>
          <a:lstStyle/>
          <a:p>
            <a:pPr marL="0" indent="0">
              <a:buNone/>
            </a:pPr>
            <a:r>
              <a:rPr lang="en-US" sz="1500" b="1" dirty="0">
                <a:solidFill>
                  <a:srgbClr val="1A2B2C"/>
                </a:solidFill>
                <a:latin typeface="Calibri" pitchFamily="34" charset="0"/>
                <a:ea typeface="Calibri" pitchFamily="34" charset="-122"/>
                <a:cs typeface="Calibri" pitchFamily="34" charset="-120"/>
              </a:rPr>
              <a:t>Grouped patients by risk</a:t>
            </a:r>
            <a:endParaRPr lang="en-US" sz="1500" dirty="0"/>
          </a:p>
        </p:txBody>
      </p:sp>
      <p:sp>
        <p:nvSpPr>
          <p:cNvPr id="11" name="Text 9"/>
          <p:cNvSpPr txBox="1"/>
          <p:nvPr/>
        </p:nvSpPr>
        <p:spPr>
          <a:xfrm>
            <a:off x="1325880" y="3383280"/>
            <a:ext cx="4709160" cy="777240"/>
          </a:xfrm>
          <a:prstGeom prst="rect">
            <a:avLst/>
          </a:prstGeom>
          <a:noFill/>
          <a:ln/>
        </p:spPr>
        <p:txBody>
          <a:bodyPr wrap="square" lIns="0" tIns="0" rIns="0" bIns="0"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A Risk Level rule sorts every patient into Low, Medium, or High risk automatically.</a:t>
            </a:r>
            <a:endParaRPr lang="en-US" sz="1400" dirty="0">
              <a:solidFill>
                <a:schemeClr val="bg1"/>
              </a:solidFill>
            </a:endParaRPr>
          </a:p>
        </p:txBody>
      </p:sp>
      <p:sp>
        <p:nvSpPr>
          <p:cNvPr id="12" name="Shape 10"/>
          <p:cNvSpPr/>
          <p:nvPr/>
        </p:nvSpPr>
        <p:spPr>
          <a:xfrm>
            <a:off x="640080" y="4297680"/>
            <a:ext cx="457200" cy="457200"/>
          </a:xfrm>
          <a:prstGeom prst="ellipse">
            <a:avLst/>
          </a:prstGeom>
          <a:solidFill>
            <a:srgbClr val="028090"/>
          </a:solidFill>
          <a:ln/>
        </p:spPr>
      </p:sp>
      <p:sp>
        <p:nvSpPr>
          <p:cNvPr id="13" name="Text 11"/>
          <p:cNvSpPr txBox="1"/>
          <p:nvPr/>
        </p:nvSpPr>
        <p:spPr>
          <a:xfrm>
            <a:off x="640080" y="429768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txBox="1"/>
          <p:nvPr/>
        </p:nvSpPr>
        <p:spPr>
          <a:xfrm>
            <a:off x="1325880" y="4251960"/>
            <a:ext cx="4572000" cy="365760"/>
          </a:xfrm>
          <a:prstGeom prst="rect">
            <a:avLst/>
          </a:prstGeom>
          <a:noFill/>
          <a:ln/>
        </p:spPr>
        <p:txBody>
          <a:bodyPr wrap="square" lIns="0" tIns="0" rIns="0" bIns="0" rtlCol="0" anchor="ctr"/>
          <a:lstStyle/>
          <a:p>
            <a:pPr marL="0" indent="0">
              <a:buNone/>
            </a:pPr>
            <a:r>
              <a:rPr lang="en-US" sz="1500" b="1" dirty="0">
                <a:solidFill>
                  <a:srgbClr val="1A2B2C"/>
                </a:solidFill>
                <a:latin typeface="Calibri" pitchFamily="34" charset="0"/>
                <a:ea typeface="Calibri" pitchFamily="34" charset="-122"/>
                <a:cs typeface="Calibri" pitchFamily="34" charset="-120"/>
              </a:rPr>
              <a:t>Saved it as a table</a:t>
            </a:r>
            <a:endParaRPr lang="en-US" sz="1500" dirty="0"/>
          </a:p>
        </p:txBody>
      </p:sp>
      <p:sp>
        <p:nvSpPr>
          <p:cNvPr id="15" name="Text 13"/>
          <p:cNvSpPr txBox="1"/>
          <p:nvPr/>
        </p:nvSpPr>
        <p:spPr>
          <a:xfrm>
            <a:off x="1325880" y="4617720"/>
            <a:ext cx="4709160" cy="777240"/>
          </a:xfrm>
          <a:prstGeom prst="rect">
            <a:avLst/>
          </a:prstGeom>
          <a:noFill/>
          <a:ln/>
        </p:spPr>
        <p:txBody>
          <a:bodyPr wrap="square" lIns="0" tIns="0" rIns="0" bIns="0"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Results are stored in a table called patient_risk_segments, ready for staff and other systems to use.</a:t>
            </a:r>
            <a:endParaRPr lang="en-US" sz="1400" dirty="0">
              <a:solidFill>
                <a:schemeClr val="bg1"/>
              </a:solidFill>
            </a:endParaRPr>
          </a:p>
        </p:txBody>
      </p:sp>
      <p:sp>
        <p:nvSpPr>
          <p:cNvPr id="16" name="Shape 14"/>
          <p:cNvSpPr/>
          <p:nvPr/>
        </p:nvSpPr>
        <p:spPr>
          <a:xfrm>
            <a:off x="6492240" y="1783080"/>
            <a:ext cx="5029200" cy="4343400"/>
          </a:xfrm>
          <a:prstGeom prst="roundRect">
            <a:avLst>
              <a:gd name="adj" fmla="val 2947"/>
            </a:avLst>
          </a:prstGeom>
          <a:solidFill>
            <a:srgbClr val="F4FAF9"/>
          </a:solidFill>
          <a:ln w="12700">
            <a:solidFill>
              <a:srgbClr val="D8EAE8"/>
            </a:solidFill>
            <a:prstDash val="solid"/>
          </a:ln>
        </p:spPr>
      </p:sp>
      <p:sp>
        <p:nvSpPr>
          <p:cNvPr id="17" name="Text 15"/>
          <p:cNvSpPr txBox="1"/>
          <p:nvPr/>
        </p:nvSpPr>
        <p:spPr>
          <a:xfrm>
            <a:off x="6858000" y="2011680"/>
            <a:ext cx="4297680" cy="365760"/>
          </a:xfrm>
          <a:prstGeom prst="rect">
            <a:avLst/>
          </a:prstGeom>
          <a:noFill/>
          <a:ln/>
        </p:spPr>
        <p:txBody>
          <a:bodyPr wrap="square" lIns="0" tIns="0" rIns="0" bIns="0" rtlCol="0" anchor="ctr"/>
          <a:lstStyle/>
          <a:p>
            <a:pPr marL="0" indent="0">
              <a:buNone/>
            </a:pPr>
            <a:r>
              <a:rPr lang="en-US" sz="1300" b="1" dirty="0">
                <a:solidFill>
                  <a:srgbClr val="5C7A7B"/>
                </a:solidFill>
                <a:latin typeface="Calibri" pitchFamily="34" charset="0"/>
                <a:ea typeface="Calibri" pitchFamily="34" charset="-122"/>
                <a:cs typeface="Calibri" pitchFamily="34" charset="-120"/>
              </a:rPr>
              <a:t>Does it actually work?</a:t>
            </a:r>
            <a:endParaRPr lang="en-US" sz="1300" dirty="0"/>
          </a:p>
        </p:txBody>
      </p:sp>
      <p:sp>
        <p:nvSpPr>
          <p:cNvPr id="18" name="Text 16"/>
          <p:cNvSpPr txBox="1"/>
          <p:nvPr/>
        </p:nvSpPr>
        <p:spPr>
          <a:xfrm>
            <a:off x="6858000" y="2331720"/>
            <a:ext cx="4297680" cy="365760"/>
          </a:xfrm>
          <a:prstGeom prst="rect">
            <a:avLst/>
          </a:prstGeom>
          <a:noFill/>
          <a:ln/>
        </p:spPr>
        <p:txBody>
          <a:bodyPr wrap="square" lIns="0" tIns="0" rIns="0" bIns="0" rtlCol="0" anchor="ctr"/>
          <a:lstStyle/>
          <a:p>
            <a:pPr marL="0" indent="0">
              <a:buNone/>
            </a:pPr>
            <a:r>
              <a:rPr lang="en-US" sz="1700" b="1" dirty="0">
                <a:solidFill>
                  <a:srgbClr val="1A2B2C"/>
                </a:solidFill>
                <a:latin typeface="Bookman Old Style" pitchFamily="34" charset="0"/>
                <a:ea typeface="Bookman Old Style" pitchFamily="34" charset="-122"/>
                <a:cs typeface="Bookman Old Style" pitchFamily="34" charset="-120"/>
              </a:rPr>
              <a:t>Compare real no-show rates by risk group</a:t>
            </a:r>
            <a:endParaRPr lang="en-US" sz="1700" dirty="0"/>
          </a:p>
        </p:txBody>
      </p:sp>
      <p:sp>
        <p:nvSpPr>
          <p:cNvPr id="19" name="Text 17"/>
          <p:cNvSpPr txBox="1"/>
          <p:nvPr/>
        </p:nvSpPr>
        <p:spPr>
          <a:xfrm>
            <a:off x="6858000" y="2971800"/>
            <a:ext cx="1828800" cy="320040"/>
          </a:xfrm>
          <a:prstGeom prst="rect">
            <a:avLst/>
          </a:prstGeom>
          <a:noFill/>
          <a:ln/>
        </p:spPr>
        <p:txBody>
          <a:bodyPr wrap="square" lIns="0" tIns="0" rIns="0" bIns="0" rtlCol="0" anchor="ctr"/>
          <a:lstStyle/>
          <a:p>
            <a:pPr marL="0" indent="0">
              <a:buNone/>
            </a:pPr>
            <a:r>
              <a:rPr lang="en-US" sz="1300" dirty="0">
                <a:solidFill>
                  <a:srgbClr val="1A2B2C"/>
                </a:solidFill>
                <a:latin typeface="Calibri" pitchFamily="34" charset="0"/>
                <a:ea typeface="Calibri" pitchFamily="34" charset="-122"/>
                <a:cs typeface="Calibri" pitchFamily="34" charset="-120"/>
              </a:rPr>
              <a:t>Low risk</a:t>
            </a:r>
            <a:endParaRPr lang="en-US" sz="1300" dirty="0"/>
          </a:p>
        </p:txBody>
      </p:sp>
      <p:sp>
        <p:nvSpPr>
          <p:cNvPr id="20" name="Shape 18"/>
          <p:cNvSpPr/>
          <p:nvPr/>
        </p:nvSpPr>
        <p:spPr>
          <a:xfrm>
            <a:off x="6858000" y="3310128"/>
            <a:ext cx="3931920" cy="365760"/>
          </a:xfrm>
          <a:prstGeom prst="roundRect">
            <a:avLst>
              <a:gd name="adj" fmla="val 15000"/>
            </a:avLst>
          </a:prstGeom>
          <a:solidFill>
            <a:srgbClr val="DCEEEC"/>
          </a:solidFill>
          <a:ln/>
        </p:spPr>
      </p:sp>
      <p:sp>
        <p:nvSpPr>
          <p:cNvPr id="21" name="Shape 19"/>
          <p:cNvSpPr/>
          <p:nvPr/>
        </p:nvSpPr>
        <p:spPr>
          <a:xfrm>
            <a:off x="6858000" y="3310128"/>
            <a:ext cx="1437895" cy="365760"/>
          </a:xfrm>
          <a:prstGeom prst="roundRect">
            <a:avLst>
              <a:gd name="adj" fmla="val 15000"/>
            </a:avLst>
          </a:prstGeom>
          <a:solidFill>
            <a:srgbClr val="00A896"/>
          </a:solidFill>
          <a:ln/>
        </p:spPr>
      </p:sp>
      <p:sp>
        <p:nvSpPr>
          <p:cNvPr id="22" name="Text 20"/>
          <p:cNvSpPr txBox="1"/>
          <p:nvPr/>
        </p:nvSpPr>
        <p:spPr>
          <a:xfrm>
            <a:off x="6949440" y="3310128"/>
            <a:ext cx="13716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21.77%</a:t>
            </a:r>
            <a:endParaRPr lang="en-US" sz="1200" dirty="0"/>
          </a:p>
        </p:txBody>
      </p:sp>
      <p:sp>
        <p:nvSpPr>
          <p:cNvPr id="23" name="Text 21"/>
          <p:cNvSpPr txBox="1"/>
          <p:nvPr/>
        </p:nvSpPr>
        <p:spPr>
          <a:xfrm>
            <a:off x="6858000" y="3886200"/>
            <a:ext cx="1828800" cy="320040"/>
          </a:xfrm>
          <a:prstGeom prst="rect">
            <a:avLst/>
          </a:prstGeom>
          <a:noFill/>
          <a:ln/>
        </p:spPr>
        <p:txBody>
          <a:bodyPr wrap="square" lIns="0" tIns="0" rIns="0" bIns="0" rtlCol="0" anchor="ctr"/>
          <a:lstStyle/>
          <a:p>
            <a:pPr marL="0" indent="0">
              <a:buNone/>
            </a:pPr>
            <a:r>
              <a:rPr lang="en-US" sz="1300" dirty="0">
                <a:solidFill>
                  <a:srgbClr val="1A2B2C"/>
                </a:solidFill>
                <a:latin typeface="Calibri" pitchFamily="34" charset="0"/>
                <a:ea typeface="Calibri" pitchFamily="34" charset="-122"/>
                <a:cs typeface="Calibri" pitchFamily="34" charset="-120"/>
              </a:rPr>
              <a:t>High risk</a:t>
            </a:r>
            <a:endParaRPr lang="en-US" sz="1300" dirty="0"/>
          </a:p>
        </p:txBody>
      </p:sp>
      <p:sp>
        <p:nvSpPr>
          <p:cNvPr id="24" name="Shape 22"/>
          <p:cNvSpPr/>
          <p:nvPr/>
        </p:nvSpPr>
        <p:spPr>
          <a:xfrm>
            <a:off x="6858000" y="4224528"/>
            <a:ext cx="3931920" cy="365760"/>
          </a:xfrm>
          <a:prstGeom prst="roundRect">
            <a:avLst>
              <a:gd name="adj" fmla="val 15000"/>
            </a:avLst>
          </a:prstGeom>
          <a:solidFill>
            <a:srgbClr val="DCEEEC"/>
          </a:solidFill>
          <a:ln/>
        </p:spPr>
      </p:sp>
      <p:sp>
        <p:nvSpPr>
          <p:cNvPr id="25" name="Shape 23"/>
          <p:cNvSpPr/>
          <p:nvPr/>
        </p:nvSpPr>
        <p:spPr>
          <a:xfrm>
            <a:off x="6858000" y="4224528"/>
            <a:ext cx="3931920" cy="365760"/>
          </a:xfrm>
          <a:prstGeom prst="roundRect">
            <a:avLst>
              <a:gd name="adj" fmla="val 15000"/>
            </a:avLst>
          </a:prstGeom>
          <a:solidFill>
            <a:srgbClr val="D64550"/>
          </a:solidFill>
          <a:ln/>
        </p:spPr>
      </p:sp>
      <p:sp>
        <p:nvSpPr>
          <p:cNvPr id="26" name="Text 24"/>
          <p:cNvSpPr txBox="1"/>
          <p:nvPr/>
        </p:nvSpPr>
        <p:spPr>
          <a:xfrm>
            <a:off x="6949440" y="4224528"/>
            <a:ext cx="13716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59.53%</a:t>
            </a:r>
            <a:endParaRPr lang="en-US" sz="1200" dirty="0"/>
          </a:p>
        </p:txBody>
      </p:sp>
      <p:sp>
        <p:nvSpPr>
          <p:cNvPr id="27" name="Shape 25"/>
          <p:cNvSpPr/>
          <p:nvPr/>
        </p:nvSpPr>
        <p:spPr>
          <a:xfrm>
            <a:off x="6858000" y="4892040"/>
            <a:ext cx="4297680" cy="0"/>
          </a:xfrm>
          <a:prstGeom prst="line">
            <a:avLst/>
          </a:prstGeom>
          <a:noFill/>
          <a:ln w="12700">
            <a:solidFill>
              <a:srgbClr val="D8EAE8"/>
            </a:solidFill>
            <a:prstDash val="solid"/>
          </a:ln>
        </p:spPr>
      </p:sp>
      <p:sp>
        <p:nvSpPr>
          <p:cNvPr id="28" name="Text 26"/>
          <p:cNvSpPr txBox="1"/>
          <p:nvPr/>
        </p:nvSpPr>
        <p:spPr>
          <a:xfrm>
            <a:off x="6858000" y="5029200"/>
            <a:ext cx="1463040" cy="822960"/>
          </a:xfrm>
          <a:prstGeom prst="rect">
            <a:avLst/>
          </a:prstGeom>
          <a:noFill/>
          <a:ln/>
        </p:spPr>
        <p:txBody>
          <a:bodyPr wrap="square" lIns="0" tIns="0" rIns="0" bIns="0" rtlCol="0" anchor="ctr"/>
          <a:lstStyle/>
          <a:p>
            <a:pPr marL="0" indent="0">
              <a:buNone/>
            </a:pPr>
            <a:r>
              <a:rPr lang="en-US" sz="3000" b="1" dirty="0">
                <a:solidFill>
                  <a:srgbClr val="028090"/>
                </a:solidFill>
                <a:latin typeface="Bookman Old Style" pitchFamily="34" charset="0"/>
                <a:ea typeface="Bookman Old Style" pitchFamily="34" charset="-122"/>
                <a:cs typeface="Bookman Old Style" pitchFamily="34" charset="-120"/>
              </a:rPr>
              <a:t>2.7x</a:t>
            </a:r>
            <a:endParaRPr lang="en-US" sz="3000" dirty="0"/>
          </a:p>
        </p:txBody>
      </p:sp>
      <p:sp>
        <p:nvSpPr>
          <p:cNvPr id="29" name="Text 27"/>
          <p:cNvSpPr txBox="1"/>
          <p:nvPr/>
        </p:nvSpPr>
        <p:spPr>
          <a:xfrm>
            <a:off x="8229600" y="5029200"/>
            <a:ext cx="3108960" cy="822960"/>
          </a:xfrm>
          <a:prstGeom prst="rect">
            <a:avLst/>
          </a:prstGeom>
          <a:noFill/>
          <a:ln/>
        </p:spPr>
        <p:txBody>
          <a:bodyPr wrap="square" lIns="0" tIns="0" rIns="0" bIns="0" rtlCol="0" anchor="ctr"/>
          <a:lstStyle/>
          <a:p>
            <a:pPr marL="0" indent="0">
              <a:lnSpc>
                <a:spcPct val="115000"/>
              </a:lnSpc>
              <a:buNone/>
            </a:pPr>
            <a:r>
              <a:rPr lang="en-US" dirty="0">
                <a:solidFill>
                  <a:srgbClr val="5C7A7B"/>
                </a:solidFill>
                <a:latin typeface="Calibri" pitchFamily="34" charset="0"/>
                <a:ea typeface="Calibri" pitchFamily="34" charset="-122"/>
                <a:cs typeface="Calibri" pitchFamily="34" charset="-120"/>
              </a:rPr>
              <a:t>higher no-show rate for High-risk patients compared to Low-risk patients</a:t>
            </a:r>
            <a:endParaRPr lang="en-US" dirty="0"/>
          </a:p>
        </p:txBody>
      </p:sp>
      <p:sp>
        <p:nvSpPr>
          <p:cNvPr id="30" name="Text 28"/>
          <p:cNvSpPr txBox="1"/>
          <p:nvPr/>
        </p:nvSpPr>
        <p:spPr>
          <a:xfrm>
            <a:off x="11247120" y="6446520"/>
            <a:ext cx="822960" cy="274320"/>
          </a:xfrm>
          <a:prstGeom prst="rect">
            <a:avLst/>
          </a:prstGeom>
          <a:noFill/>
          <a:ln/>
        </p:spPr>
        <p:txBody>
          <a:bodyPr wrap="square" lIns="0" tIns="0" rIns="0" bIns="0" rtlCol="0" anchor="ctr"/>
          <a:lstStyle/>
          <a:p>
            <a:pPr marL="0" indent="0" algn="r">
              <a:buNone/>
            </a:pPr>
            <a:r>
              <a:rPr lang="en-US" sz="1000" dirty="0">
                <a:solidFill>
                  <a:srgbClr val="5C7A7B"/>
                </a:solidFill>
                <a:latin typeface="Calibri" pitchFamily="34" charset="0"/>
                <a:ea typeface="Calibri" pitchFamily="34" charset="-122"/>
                <a:cs typeface="Calibri" pitchFamily="34" charset="-120"/>
              </a:rPr>
              <a:t>03 / 05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7315200" cy="365760"/>
          </a:xfrm>
          <a:prstGeom prst="rect">
            <a:avLst/>
          </a:prstGeom>
          <a:noFill/>
          <a:ln/>
        </p:spPr>
        <p:txBody>
          <a:bodyPr wrap="square" lIns="0" tIns="0" rIns="0" bIns="0" rtlCol="0" anchor="ctr"/>
          <a:lstStyle/>
          <a:p>
            <a:pPr marL="0" indent="0">
              <a:buNone/>
            </a:pPr>
            <a:r>
              <a:rPr lang="en-US" sz="2800" b="1" kern="0" spc="200" dirty="0">
                <a:solidFill>
                  <a:srgbClr val="02C39A"/>
                </a:solidFill>
                <a:latin typeface="Calibri" pitchFamily="34" charset="0"/>
                <a:ea typeface="Calibri" pitchFamily="34" charset="-122"/>
                <a:cs typeface="Calibri" pitchFamily="34" charset="-120"/>
              </a:rPr>
              <a:t>FINAL TESTING — THE PROOF</a:t>
            </a:r>
            <a:endParaRPr lang="en-US" sz="2800" dirty="0"/>
          </a:p>
        </p:txBody>
      </p:sp>
      <p:sp>
        <p:nvSpPr>
          <p:cNvPr id="3" name="Text 1"/>
          <p:cNvSpPr txBox="1"/>
          <p:nvPr/>
        </p:nvSpPr>
        <p:spPr>
          <a:xfrm>
            <a:off x="640080" y="731520"/>
            <a:ext cx="10881360" cy="822960"/>
          </a:xfrm>
          <a:prstGeom prst="rect">
            <a:avLst/>
          </a:prstGeom>
          <a:noFill/>
          <a:ln/>
        </p:spPr>
        <p:txBody>
          <a:bodyPr wrap="square" lIns="0" tIns="0" rIns="0" bIns="0" rtlCol="0" anchor="ctr"/>
          <a:lstStyle/>
          <a:p>
            <a:pPr marL="0" indent="0">
              <a:buNone/>
            </a:pPr>
            <a:r>
              <a:rPr lang="en-US" sz="2800" b="1" dirty="0">
                <a:solidFill>
                  <a:schemeClr val="bg1"/>
                </a:solidFill>
                <a:latin typeface="Bookman Old Style" pitchFamily="34" charset="0"/>
                <a:ea typeface="Bookman Old Style" pitchFamily="34" charset="-122"/>
                <a:cs typeface="Bookman Old Style" pitchFamily="34" charset="-120"/>
              </a:rPr>
              <a:t>Tested on real patients — and it worked</a:t>
            </a:r>
            <a:endParaRPr lang="en-US" sz="2800" dirty="0">
              <a:solidFill>
                <a:schemeClr val="bg1"/>
              </a:solidFill>
            </a:endParaRPr>
          </a:p>
        </p:txBody>
      </p:sp>
      <p:sp>
        <p:nvSpPr>
          <p:cNvPr id="4" name="Text 2"/>
          <p:cNvSpPr txBox="1"/>
          <p:nvPr/>
        </p:nvSpPr>
        <p:spPr>
          <a:xfrm>
            <a:off x="640080" y="1417320"/>
            <a:ext cx="10607040" cy="457200"/>
          </a:xfrm>
          <a:prstGeom prst="rect">
            <a:avLst/>
          </a:prstGeom>
          <a:noFill/>
          <a:ln/>
        </p:spPr>
        <p:txBody>
          <a:bodyPr wrap="square" lIns="0" tIns="0" rIns="0" bIns="0" rtlCol="0" anchor="ctr"/>
          <a:lstStyle/>
          <a:p>
            <a:pPr marL="0" indent="0">
              <a:buNone/>
            </a:pPr>
            <a:r>
              <a:rPr lang="en-US" sz="1300" dirty="0">
                <a:solidFill>
                  <a:srgbClr val="CFE8E6"/>
                </a:solidFill>
                <a:latin typeface="Calibri" pitchFamily="34" charset="0"/>
                <a:ea typeface="Calibri" pitchFamily="34" charset="-122"/>
                <a:cs typeface="Calibri" pitchFamily="34" charset="-120"/>
              </a:rPr>
              <a:t>We picked the toughest group — the Mobile Clinic cohort, patients living 30km or more away — and ran the model on all 213 of them.</a:t>
            </a:r>
            <a:endParaRPr lang="en-US" sz="1300" dirty="0"/>
          </a:p>
        </p:txBody>
      </p:sp>
      <p:sp>
        <p:nvSpPr>
          <p:cNvPr id="5" name="Shape 3"/>
          <p:cNvSpPr/>
          <p:nvPr/>
        </p:nvSpPr>
        <p:spPr>
          <a:xfrm>
            <a:off x="640080" y="2148840"/>
            <a:ext cx="3520440" cy="2286000"/>
          </a:xfrm>
          <a:prstGeom prst="roundRect">
            <a:avLst>
              <a:gd name="adj" fmla="val 4800"/>
            </a:avLst>
          </a:prstGeom>
          <a:solidFill>
            <a:srgbClr val="0F4B4D"/>
          </a:solidFill>
          <a:ln/>
        </p:spPr>
      </p:sp>
      <p:sp>
        <p:nvSpPr>
          <p:cNvPr id="6" name="Text 4"/>
          <p:cNvSpPr txBox="1"/>
          <p:nvPr/>
        </p:nvSpPr>
        <p:spPr>
          <a:xfrm>
            <a:off x="914400" y="2331720"/>
            <a:ext cx="2971800" cy="320040"/>
          </a:xfrm>
          <a:prstGeom prst="rect">
            <a:avLst/>
          </a:prstGeom>
          <a:noFill/>
          <a:ln/>
        </p:spPr>
        <p:txBody>
          <a:bodyPr wrap="square" lIns="0" tIns="0" rIns="0" bIns="0" rtlCol="0" anchor="ctr"/>
          <a:lstStyle/>
          <a:p>
            <a:pPr marL="0" indent="0">
              <a:buNone/>
            </a:pPr>
            <a:r>
              <a:rPr lang="en-US" sz="1200" b="1" kern="0" spc="150" dirty="0">
                <a:solidFill>
                  <a:srgbClr val="8FC7C4"/>
                </a:solidFill>
                <a:latin typeface="Calibri" pitchFamily="34" charset="0"/>
                <a:ea typeface="Calibri" pitchFamily="34" charset="-122"/>
                <a:cs typeface="Calibri" pitchFamily="34" charset="-120"/>
              </a:rPr>
              <a:t>CRITICAL RISK</a:t>
            </a:r>
            <a:endParaRPr lang="en-US" sz="1200" dirty="0"/>
          </a:p>
        </p:txBody>
      </p:sp>
      <p:sp>
        <p:nvSpPr>
          <p:cNvPr id="7" name="Text 5"/>
          <p:cNvSpPr txBox="1"/>
          <p:nvPr/>
        </p:nvSpPr>
        <p:spPr>
          <a:xfrm>
            <a:off x="914400" y="2651760"/>
            <a:ext cx="1828800" cy="868680"/>
          </a:xfrm>
          <a:prstGeom prst="rect">
            <a:avLst/>
          </a:prstGeom>
          <a:noFill/>
          <a:ln/>
        </p:spPr>
        <p:txBody>
          <a:bodyPr wrap="square" lIns="0" tIns="0" rIns="0" bIns="0"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20</a:t>
            </a:r>
            <a:endParaRPr lang="en-US" sz="4600" dirty="0"/>
          </a:p>
        </p:txBody>
      </p:sp>
      <p:sp>
        <p:nvSpPr>
          <p:cNvPr id="8" name="Text 6"/>
          <p:cNvSpPr txBox="1"/>
          <p:nvPr/>
        </p:nvSpPr>
        <p:spPr>
          <a:xfrm>
            <a:off x="914400" y="3429000"/>
            <a:ext cx="1828800" cy="274320"/>
          </a:xfrm>
          <a:prstGeom prst="rect">
            <a:avLst/>
          </a:prstGeom>
          <a:noFill/>
          <a:ln/>
        </p:spPr>
        <p:txBody>
          <a:bodyPr wrap="square" lIns="0" tIns="0" rIns="0" bIns="0" rtlCol="0" anchor="ctr"/>
          <a:lstStyle/>
          <a:p>
            <a:pPr marL="0" indent="0">
              <a:buNone/>
            </a:pPr>
            <a:r>
              <a:rPr lang="en-US" sz="1200" dirty="0">
                <a:solidFill>
                  <a:srgbClr val="8FC7C4"/>
                </a:solidFill>
                <a:latin typeface="Calibri" pitchFamily="34" charset="0"/>
                <a:ea typeface="Calibri" pitchFamily="34" charset="-122"/>
                <a:cs typeface="Calibri" pitchFamily="34" charset="-120"/>
              </a:rPr>
              <a:t>patients</a:t>
            </a:r>
            <a:endParaRPr lang="en-US" sz="1200" dirty="0"/>
          </a:p>
        </p:txBody>
      </p:sp>
      <p:sp>
        <p:nvSpPr>
          <p:cNvPr id="9" name="Shape 7"/>
          <p:cNvSpPr/>
          <p:nvPr/>
        </p:nvSpPr>
        <p:spPr>
          <a:xfrm>
            <a:off x="914400" y="3794760"/>
            <a:ext cx="2971800" cy="0"/>
          </a:xfrm>
          <a:prstGeom prst="line">
            <a:avLst/>
          </a:prstGeom>
          <a:noFill/>
          <a:ln w="12700">
            <a:solidFill>
              <a:srgbClr val="1E6A6C"/>
            </a:solidFill>
            <a:prstDash val="solid"/>
          </a:ln>
        </p:spPr>
      </p:sp>
      <p:sp>
        <p:nvSpPr>
          <p:cNvPr id="10" name="Text 8"/>
          <p:cNvSpPr txBox="1"/>
          <p:nvPr/>
        </p:nvSpPr>
        <p:spPr>
          <a:xfrm>
            <a:off x="914400" y="3886200"/>
            <a:ext cx="3108960" cy="457200"/>
          </a:xfrm>
          <a:prstGeom prst="rect">
            <a:avLst/>
          </a:prstGeom>
          <a:noFill/>
          <a:ln/>
        </p:spPr>
        <p:txBody>
          <a:bodyPr wrap="square" lIns="0" tIns="0" rIns="0" bIns="0" rtlCol="0" anchor="ctr"/>
          <a:lstStyle/>
          <a:p>
            <a:pPr marL="0" indent="0">
              <a:buNone/>
            </a:pPr>
            <a:r>
              <a:rPr lang="en-US" sz="2200" b="1" dirty="0">
                <a:solidFill>
                  <a:srgbClr val="00A896"/>
                </a:solidFill>
                <a:latin typeface="Bookman Old Style" pitchFamily="34" charset="0"/>
                <a:ea typeface="Bookman Old Style" pitchFamily="34" charset="-122"/>
                <a:cs typeface="Bookman Old Style" pitchFamily="34" charset="-120"/>
              </a:rPr>
              <a:t>60%</a:t>
            </a:r>
            <a:r>
              <a:rPr lang="en-US" sz="1200" dirty="0">
                <a:solidFill>
                  <a:srgbClr val="CFE8E6"/>
                </a:solidFill>
              </a:rPr>
              <a:t>  no-show rate</a:t>
            </a:r>
            <a:endParaRPr lang="en-US" sz="2200" dirty="0"/>
          </a:p>
        </p:txBody>
      </p:sp>
      <p:sp>
        <p:nvSpPr>
          <p:cNvPr id="11" name="Shape 9"/>
          <p:cNvSpPr/>
          <p:nvPr/>
        </p:nvSpPr>
        <p:spPr>
          <a:xfrm>
            <a:off x="4389120" y="2148840"/>
            <a:ext cx="3520440" cy="2286000"/>
          </a:xfrm>
          <a:prstGeom prst="roundRect">
            <a:avLst>
              <a:gd name="adj" fmla="val 4800"/>
            </a:avLst>
          </a:prstGeom>
          <a:solidFill>
            <a:srgbClr val="0F4B4D"/>
          </a:solidFill>
          <a:ln/>
        </p:spPr>
      </p:sp>
      <p:sp>
        <p:nvSpPr>
          <p:cNvPr id="12" name="Text 10"/>
          <p:cNvSpPr txBox="1"/>
          <p:nvPr/>
        </p:nvSpPr>
        <p:spPr>
          <a:xfrm>
            <a:off x="4663440" y="2331720"/>
            <a:ext cx="2971800" cy="320040"/>
          </a:xfrm>
          <a:prstGeom prst="rect">
            <a:avLst/>
          </a:prstGeom>
          <a:noFill/>
          <a:ln/>
        </p:spPr>
        <p:txBody>
          <a:bodyPr wrap="square" lIns="0" tIns="0" rIns="0" bIns="0" rtlCol="0" anchor="ctr"/>
          <a:lstStyle/>
          <a:p>
            <a:pPr marL="0" indent="0">
              <a:buNone/>
            </a:pPr>
            <a:r>
              <a:rPr lang="en-US" sz="1200" b="1" kern="0" spc="150" dirty="0">
                <a:solidFill>
                  <a:srgbClr val="8FC7C4"/>
                </a:solidFill>
                <a:latin typeface="Calibri" pitchFamily="34" charset="0"/>
                <a:ea typeface="Calibri" pitchFamily="34" charset="-122"/>
                <a:cs typeface="Calibri" pitchFamily="34" charset="-120"/>
              </a:rPr>
              <a:t>HIGH RISK</a:t>
            </a:r>
            <a:endParaRPr lang="en-US" sz="1200" dirty="0"/>
          </a:p>
        </p:txBody>
      </p:sp>
      <p:sp>
        <p:nvSpPr>
          <p:cNvPr id="13" name="Text 11"/>
          <p:cNvSpPr txBox="1"/>
          <p:nvPr/>
        </p:nvSpPr>
        <p:spPr>
          <a:xfrm>
            <a:off x="4663440" y="2651760"/>
            <a:ext cx="1828800" cy="868680"/>
          </a:xfrm>
          <a:prstGeom prst="rect">
            <a:avLst/>
          </a:prstGeom>
          <a:noFill/>
          <a:ln/>
        </p:spPr>
        <p:txBody>
          <a:bodyPr wrap="square" lIns="0" tIns="0" rIns="0" bIns="0"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193</a:t>
            </a:r>
            <a:endParaRPr lang="en-US" sz="4600" dirty="0"/>
          </a:p>
        </p:txBody>
      </p:sp>
      <p:sp>
        <p:nvSpPr>
          <p:cNvPr id="14" name="Text 12"/>
          <p:cNvSpPr txBox="1"/>
          <p:nvPr/>
        </p:nvSpPr>
        <p:spPr>
          <a:xfrm>
            <a:off x="4663440" y="3429000"/>
            <a:ext cx="1828800" cy="274320"/>
          </a:xfrm>
          <a:prstGeom prst="rect">
            <a:avLst/>
          </a:prstGeom>
          <a:noFill/>
          <a:ln/>
        </p:spPr>
        <p:txBody>
          <a:bodyPr wrap="square" lIns="0" tIns="0" rIns="0" bIns="0" rtlCol="0" anchor="ctr"/>
          <a:lstStyle/>
          <a:p>
            <a:pPr marL="0" indent="0">
              <a:buNone/>
            </a:pPr>
            <a:r>
              <a:rPr lang="en-US" sz="1200" dirty="0">
                <a:solidFill>
                  <a:srgbClr val="8FC7C4"/>
                </a:solidFill>
                <a:latin typeface="Calibri" pitchFamily="34" charset="0"/>
                <a:ea typeface="Calibri" pitchFamily="34" charset="-122"/>
                <a:cs typeface="Calibri" pitchFamily="34" charset="-120"/>
              </a:rPr>
              <a:t>patients</a:t>
            </a:r>
            <a:endParaRPr lang="en-US" sz="1200" dirty="0"/>
          </a:p>
        </p:txBody>
      </p:sp>
      <p:sp>
        <p:nvSpPr>
          <p:cNvPr id="15" name="Shape 13"/>
          <p:cNvSpPr/>
          <p:nvPr/>
        </p:nvSpPr>
        <p:spPr>
          <a:xfrm>
            <a:off x="4663440" y="3794760"/>
            <a:ext cx="2971800" cy="0"/>
          </a:xfrm>
          <a:prstGeom prst="line">
            <a:avLst/>
          </a:prstGeom>
          <a:noFill/>
          <a:ln w="12700">
            <a:solidFill>
              <a:srgbClr val="1E6A6C"/>
            </a:solidFill>
            <a:prstDash val="solid"/>
          </a:ln>
        </p:spPr>
      </p:sp>
      <p:sp>
        <p:nvSpPr>
          <p:cNvPr id="16" name="Text 14"/>
          <p:cNvSpPr txBox="1"/>
          <p:nvPr/>
        </p:nvSpPr>
        <p:spPr>
          <a:xfrm>
            <a:off x="4663440" y="3886200"/>
            <a:ext cx="3108960" cy="457200"/>
          </a:xfrm>
          <a:prstGeom prst="rect">
            <a:avLst/>
          </a:prstGeom>
          <a:noFill/>
          <a:ln/>
        </p:spPr>
        <p:txBody>
          <a:bodyPr wrap="square" lIns="0" tIns="0" rIns="0" bIns="0" rtlCol="0" anchor="ctr"/>
          <a:lstStyle/>
          <a:p>
            <a:pPr marL="0" indent="0">
              <a:buNone/>
            </a:pPr>
            <a:r>
              <a:rPr lang="en-US" sz="2200" b="1" dirty="0">
                <a:solidFill>
                  <a:srgbClr val="D64550"/>
                </a:solidFill>
                <a:latin typeface="Bookman Old Style" pitchFamily="34" charset="0"/>
                <a:ea typeface="Bookman Old Style" pitchFamily="34" charset="-122"/>
                <a:cs typeface="Bookman Old Style" pitchFamily="34" charset="-120"/>
              </a:rPr>
              <a:t>70.98%</a:t>
            </a:r>
            <a:r>
              <a:rPr lang="en-US" sz="1200" dirty="0">
                <a:solidFill>
                  <a:srgbClr val="CFE8E6"/>
                </a:solidFill>
              </a:rPr>
              <a:t>  no-show rate</a:t>
            </a:r>
            <a:endParaRPr lang="en-US" sz="2200" dirty="0"/>
          </a:p>
        </p:txBody>
      </p:sp>
      <p:sp>
        <p:nvSpPr>
          <p:cNvPr id="17" name="Shape 15"/>
          <p:cNvSpPr/>
          <p:nvPr/>
        </p:nvSpPr>
        <p:spPr>
          <a:xfrm>
            <a:off x="8138160" y="2148840"/>
            <a:ext cx="3520440" cy="2286000"/>
          </a:xfrm>
          <a:prstGeom prst="roundRect">
            <a:avLst>
              <a:gd name="adj" fmla="val 4800"/>
            </a:avLst>
          </a:prstGeom>
          <a:solidFill>
            <a:srgbClr val="0F4B4D"/>
          </a:solidFill>
          <a:ln/>
        </p:spPr>
      </p:sp>
      <p:sp>
        <p:nvSpPr>
          <p:cNvPr id="18" name="Text 16"/>
          <p:cNvSpPr txBox="1"/>
          <p:nvPr/>
        </p:nvSpPr>
        <p:spPr>
          <a:xfrm>
            <a:off x="8412480" y="2331720"/>
            <a:ext cx="2971800" cy="320040"/>
          </a:xfrm>
          <a:prstGeom prst="rect">
            <a:avLst/>
          </a:prstGeom>
          <a:noFill/>
          <a:ln/>
        </p:spPr>
        <p:txBody>
          <a:bodyPr wrap="square" lIns="0" tIns="0" rIns="0" bIns="0" rtlCol="0" anchor="ctr"/>
          <a:lstStyle/>
          <a:p>
            <a:pPr marL="0" indent="0">
              <a:buNone/>
            </a:pPr>
            <a:r>
              <a:rPr lang="en-US" sz="1200" b="1" kern="0" spc="150" dirty="0">
                <a:solidFill>
                  <a:srgbClr val="8FC7C4"/>
                </a:solidFill>
                <a:latin typeface="Calibri" pitchFamily="34" charset="0"/>
                <a:ea typeface="Calibri" pitchFamily="34" charset="-122"/>
                <a:cs typeface="Calibri" pitchFamily="34" charset="-120"/>
              </a:rPr>
              <a:t>GROUP TOTAL</a:t>
            </a:r>
            <a:endParaRPr lang="en-US" sz="1200" dirty="0"/>
          </a:p>
        </p:txBody>
      </p:sp>
      <p:sp>
        <p:nvSpPr>
          <p:cNvPr id="19" name="Text 17"/>
          <p:cNvSpPr txBox="1"/>
          <p:nvPr/>
        </p:nvSpPr>
        <p:spPr>
          <a:xfrm>
            <a:off x="8412480" y="2651760"/>
            <a:ext cx="1828800" cy="868680"/>
          </a:xfrm>
          <a:prstGeom prst="rect">
            <a:avLst/>
          </a:prstGeom>
          <a:noFill/>
          <a:ln/>
        </p:spPr>
        <p:txBody>
          <a:bodyPr wrap="square" lIns="0" tIns="0" rIns="0" bIns="0"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213</a:t>
            </a:r>
            <a:endParaRPr lang="en-US" sz="4600" dirty="0"/>
          </a:p>
        </p:txBody>
      </p:sp>
      <p:sp>
        <p:nvSpPr>
          <p:cNvPr id="20" name="Text 18"/>
          <p:cNvSpPr txBox="1"/>
          <p:nvPr/>
        </p:nvSpPr>
        <p:spPr>
          <a:xfrm>
            <a:off x="8412480" y="3429000"/>
            <a:ext cx="1828800" cy="274320"/>
          </a:xfrm>
          <a:prstGeom prst="rect">
            <a:avLst/>
          </a:prstGeom>
          <a:noFill/>
          <a:ln/>
        </p:spPr>
        <p:txBody>
          <a:bodyPr wrap="square" lIns="0" tIns="0" rIns="0" bIns="0" rtlCol="0" anchor="ctr"/>
          <a:lstStyle/>
          <a:p>
            <a:pPr marL="0" indent="0">
              <a:buNone/>
            </a:pPr>
            <a:r>
              <a:rPr lang="en-US" sz="1200" dirty="0">
                <a:solidFill>
                  <a:srgbClr val="8FC7C4"/>
                </a:solidFill>
                <a:latin typeface="Calibri" pitchFamily="34" charset="0"/>
                <a:ea typeface="Calibri" pitchFamily="34" charset="-122"/>
                <a:cs typeface="Calibri" pitchFamily="34" charset="-120"/>
              </a:rPr>
              <a:t>patients</a:t>
            </a:r>
            <a:endParaRPr lang="en-US" sz="1200" dirty="0"/>
          </a:p>
        </p:txBody>
      </p:sp>
      <p:sp>
        <p:nvSpPr>
          <p:cNvPr id="21" name="Shape 19"/>
          <p:cNvSpPr/>
          <p:nvPr/>
        </p:nvSpPr>
        <p:spPr>
          <a:xfrm>
            <a:off x="8412480" y="3794760"/>
            <a:ext cx="2971800" cy="0"/>
          </a:xfrm>
          <a:prstGeom prst="line">
            <a:avLst/>
          </a:prstGeom>
          <a:noFill/>
          <a:ln w="12700">
            <a:solidFill>
              <a:srgbClr val="1E6A6C"/>
            </a:solidFill>
            <a:prstDash val="solid"/>
          </a:ln>
        </p:spPr>
      </p:sp>
      <p:sp>
        <p:nvSpPr>
          <p:cNvPr id="22" name="Text 20"/>
          <p:cNvSpPr txBox="1"/>
          <p:nvPr/>
        </p:nvSpPr>
        <p:spPr>
          <a:xfrm>
            <a:off x="8412480" y="3886200"/>
            <a:ext cx="3108960" cy="457200"/>
          </a:xfrm>
          <a:prstGeom prst="rect">
            <a:avLst/>
          </a:prstGeom>
          <a:noFill/>
          <a:ln/>
        </p:spPr>
        <p:txBody>
          <a:bodyPr wrap="square" lIns="0" tIns="0" rIns="0" bIns="0" rtlCol="0" anchor="ctr"/>
          <a:lstStyle/>
          <a:p>
            <a:pPr marL="0" indent="0">
              <a:buNone/>
            </a:pPr>
            <a:r>
              <a:rPr lang="en-US" sz="2200" b="1" dirty="0">
                <a:solidFill>
                  <a:srgbClr val="02C39A"/>
                </a:solidFill>
                <a:latin typeface="Bookman Old Style" pitchFamily="34" charset="0"/>
                <a:ea typeface="Bookman Old Style" pitchFamily="34" charset="-122"/>
                <a:cs typeface="Bookman Old Style" pitchFamily="34" charset="-120"/>
              </a:rPr>
              <a:t>69.95%</a:t>
            </a:r>
            <a:r>
              <a:rPr lang="en-US" sz="1200" dirty="0">
                <a:solidFill>
                  <a:srgbClr val="CFE8E6"/>
                </a:solidFill>
              </a:rPr>
              <a:t>  no-show rate</a:t>
            </a:r>
            <a:endParaRPr lang="en-US" sz="2200" dirty="0"/>
          </a:p>
        </p:txBody>
      </p:sp>
      <p:sp>
        <p:nvSpPr>
          <p:cNvPr id="23" name="Shape 21"/>
          <p:cNvSpPr/>
          <p:nvPr/>
        </p:nvSpPr>
        <p:spPr>
          <a:xfrm>
            <a:off x="640080" y="4709160"/>
            <a:ext cx="10881360" cy="1325880"/>
          </a:xfrm>
          <a:prstGeom prst="roundRect">
            <a:avLst>
              <a:gd name="adj" fmla="val 8276"/>
            </a:avLst>
          </a:prstGeom>
          <a:solidFill>
            <a:srgbClr val="FFFFFF"/>
          </a:solidFill>
          <a:ln/>
        </p:spPr>
      </p:sp>
      <p:sp>
        <p:nvSpPr>
          <p:cNvPr id="24" name="Shape 22"/>
          <p:cNvSpPr/>
          <p:nvPr/>
        </p:nvSpPr>
        <p:spPr>
          <a:xfrm>
            <a:off x="914400" y="5001768"/>
            <a:ext cx="731520" cy="731520"/>
          </a:xfrm>
          <a:prstGeom prst="ellipse">
            <a:avLst/>
          </a:prstGeom>
          <a:solidFill>
            <a:srgbClr val="02C39A"/>
          </a:solidFill>
          <a:ln/>
        </p:spPr>
      </p:sp>
      <p:sp>
        <p:nvSpPr>
          <p:cNvPr id="25" name="Text 23"/>
          <p:cNvSpPr txBox="1"/>
          <p:nvPr/>
        </p:nvSpPr>
        <p:spPr>
          <a:xfrm>
            <a:off x="914400" y="5001768"/>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828800" y="4846320"/>
            <a:ext cx="9418320" cy="1051560"/>
          </a:xfrm>
          <a:prstGeom prst="rect">
            <a:avLst/>
          </a:prstGeom>
          <a:noFill/>
          <a:ln/>
        </p:spPr>
        <p:txBody>
          <a:bodyPr wrap="square" lIns="0" tIns="0" rIns="0" bIns="0" rtlCol="0" anchor="ctr"/>
          <a:lstStyle/>
          <a:p>
            <a:pPr marL="0" indent="0">
              <a:lnSpc>
                <a:spcPct val="120000"/>
              </a:lnSpc>
              <a:buNone/>
            </a:pPr>
            <a:r>
              <a:rPr lang="en-US" sz="1600" b="1" dirty="0">
                <a:solidFill>
                  <a:srgbClr val="1A2B2C"/>
                </a:solidFill>
                <a:latin typeface="Calibri" pitchFamily="34" charset="0"/>
                <a:ea typeface="Calibri" pitchFamily="34" charset="-122"/>
                <a:cs typeface="Calibri" pitchFamily="34" charset="-120"/>
              </a:rPr>
              <a:t>Card count = 213 </a:t>
            </a:r>
            <a:r>
              <a:rPr lang="en-US" sz="1600" dirty="0">
                <a:solidFill>
                  <a:srgbClr val="1A2B2C"/>
                </a:solidFill>
                <a:latin typeface="Calibri" pitchFamily="34" charset="0"/>
                <a:ea typeface="Calibri" pitchFamily="34" charset="-122"/>
                <a:cs typeface="Calibri" pitchFamily="34" charset="-120"/>
              </a:rPr>
              <a:t>confirms every patient flowed correctly through the model, start to finish.  </a:t>
            </a:r>
            <a:r>
              <a:rPr lang="en-US" sz="1600" b="1" dirty="0">
                <a:solidFill>
                  <a:srgbClr val="028090"/>
                </a:solidFill>
                <a:latin typeface="Calibri" pitchFamily="34" charset="0"/>
                <a:ea typeface="Calibri" pitchFamily="34" charset="-122"/>
                <a:cs typeface="Calibri" pitchFamily="34" charset="-120"/>
              </a:rPr>
              <a:t>69.95% &gt; 48.46%</a:t>
            </a:r>
            <a:r>
              <a:rPr lang="en-US" sz="1600" dirty="0">
                <a:solidFill>
                  <a:srgbClr val="1A2B2C"/>
                </a:solidFill>
                <a:latin typeface="Calibri" pitchFamily="34" charset="0"/>
                <a:ea typeface="Calibri" pitchFamily="34" charset="-122"/>
                <a:cs typeface="Calibri" pitchFamily="34" charset="-120"/>
              </a:rPr>
              <a:t>  — the flagged group's real risk is far above the clinic average, proving the model correctly finds the patients most likely to miss.</a:t>
            </a:r>
            <a:endParaRPr lang="en-US" sz="1600" dirty="0"/>
          </a:p>
        </p:txBody>
      </p:sp>
      <p:sp>
        <p:nvSpPr>
          <p:cNvPr id="27" name="Text 25"/>
          <p:cNvSpPr txBox="1"/>
          <p:nvPr/>
        </p:nvSpPr>
        <p:spPr>
          <a:xfrm>
            <a:off x="11247120" y="6446520"/>
            <a:ext cx="822960" cy="274320"/>
          </a:xfrm>
          <a:prstGeom prst="rect">
            <a:avLst/>
          </a:prstGeom>
          <a:noFill/>
          <a:ln/>
        </p:spPr>
        <p:txBody>
          <a:bodyPr wrap="square" lIns="0" tIns="0" rIns="0" bIns="0" rtlCol="0" anchor="ctr"/>
          <a:lstStyle/>
          <a:p>
            <a:pPr marL="0" indent="0" algn="r">
              <a:buNone/>
            </a:pPr>
            <a:r>
              <a:rPr lang="en-US" sz="1000" dirty="0">
                <a:solidFill>
                  <a:srgbClr val="5C7A7B"/>
                </a:solidFill>
                <a:latin typeface="Calibri" pitchFamily="34" charset="0"/>
                <a:ea typeface="Calibri" pitchFamily="34" charset="-122"/>
                <a:cs typeface="Calibri" pitchFamily="34" charset="-120"/>
              </a:rPr>
              <a:t>04 / 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7315200" cy="365760"/>
          </a:xfrm>
          <a:prstGeom prst="rect">
            <a:avLst/>
          </a:prstGeom>
          <a:noFill/>
          <a:ln/>
        </p:spPr>
        <p:txBody>
          <a:bodyPr wrap="square" lIns="0" tIns="0" rIns="0" bIns="0" rtlCol="0" anchor="ctr"/>
          <a:lstStyle/>
          <a:p>
            <a:pPr marL="0" indent="0">
              <a:buNone/>
            </a:pPr>
            <a:r>
              <a:rPr lang="en-US" sz="2800" b="1" kern="0" spc="200" dirty="0">
                <a:solidFill>
                  <a:srgbClr val="028090"/>
                </a:solidFill>
                <a:latin typeface="Calibri" pitchFamily="34" charset="0"/>
                <a:ea typeface="Calibri" pitchFamily="34" charset="-122"/>
                <a:cs typeface="Calibri" pitchFamily="34" charset="-120"/>
              </a:rPr>
              <a:t>RECOMMENDATION &amp; NEXT STEPS</a:t>
            </a:r>
            <a:endParaRPr lang="en-US" sz="2800" dirty="0"/>
          </a:p>
        </p:txBody>
      </p:sp>
      <p:sp>
        <p:nvSpPr>
          <p:cNvPr id="3" name="Text 1"/>
          <p:cNvSpPr txBox="1"/>
          <p:nvPr/>
        </p:nvSpPr>
        <p:spPr>
          <a:xfrm>
            <a:off x="640080" y="731520"/>
            <a:ext cx="10881360" cy="822960"/>
          </a:xfrm>
          <a:prstGeom prst="rect">
            <a:avLst/>
          </a:prstGeom>
          <a:noFill/>
          <a:ln/>
        </p:spPr>
        <p:txBody>
          <a:bodyPr wrap="square" lIns="0" tIns="0" rIns="0" bIns="0" rtlCol="0" anchor="ctr"/>
          <a:lstStyle/>
          <a:p>
            <a:pPr marL="0" indent="0">
              <a:buNone/>
            </a:pPr>
            <a:r>
              <a:rPr lang="en-US" sz="2800" b="1" dirty="0">
                <a:solidFill>
                  <a:srgbClr val="1A2B2C"/>
                </a:solidFill>
                <a:latin typeface="Bookman Old Style" pitchFamily="34" charset="0"/>
                <a:ea typeface="Bookman Old Style" pitchFamily="34" charset="-122"/>
                <a:cs typeface="Bookman Old Style" pitchFamily="34" charset="-120"/>
              </a:rPr>
              <a:t>What we recommend the clinic does next</a:t>
            </a:r>
            <a:endParaRPr lang="en-US" sz="2800" dirty="0"/>
          </a:p>
        </p:txBody>
      </p:sp>
      <p:sp>
        <p:nvSpPr>
          <p:cNvPr id="4" name="Shape 2"/>
          <p:cNvSpPr/>
          <p:nvPr/>
        </p:nvSpPr>
        <p:spPr>
          <a:xfrm>
            <a:off x="640080" y="1783080"/>
            <a:ext cx="5257800" cy="2103120"/>
          </a:xfrm>
          <a:prstGeom prst="roundRect">
            <a:avLst>
              <a:gd name="adj" fmla="val 5217"/>
            </a:avLst>
          </a:prstGeom>
          <a:solidFill>
            <a:srgbClr val="FFFFFF"/>
          </a:solidFill>
          <a:ln/>
          <a:effectLst>
            <a:outerShdw blurRad="101600" dist="38100" dir="5400000" algn="bl" rotWithShape="0">
              <a:srgbClr val="000000">
                <a:alpha val="12000"/>
              </a:srgbClr>
            </a:outerShdw>
          </a:effectLst>
        </p:spPr>
      </p:sp>
      <p:sp>
        <p:nvSpPr>
          <p:cNvPr id="5" name="Shape 3"/>
          <p:cNvSpPr/>
          <p:nvPr/>
        </p:nvSpPr>
        <p:spPr>
          <a:xfrm>
            <a:off x="960120" y="2057400"/>
            <a:ext cx="1828800" cy="365760"/>
          </a:xfrm>
          <a:prstGeom prst="roundRect">
            <a:avLst>
              <a:gd name="adj" fmla="val 50000"/>
            </a:avLst>
          </a:prstGeom>
          <a:solidFill>
            <a:srgbClr val="00A896"/>
          </a:solidFill>
          <a:ln/>
        </p:spPr>
      </p:sp>
      <p:sp>
        <p:nvSpPr>
          <p:cNvPr id="6" name="Text 4"/>
          <p:cNvSpPr txBox="1"/>
          <p:nvPr/>
        </p:nvSpPr>
        <p:spPr>
          <a:xfrm>
            <a:off x="960120" y="2057400"/>
            <a:ext cx="1828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20–30 KM AWAY</a:t>
            </a:r>
            <a:endParaRPr lang="en-US" sz="1400" dirty="0"/>
          </a:p>
        </p:txBody>
      </p:sp>
      <p:sp>
        <p:nvSpPr>
          <p:cNvPr id="7" name="Text 5"/>
          <p:cNvSpPr txBox="1"/>
          <p:nvPr/>
        </p:nvSpPr>
        <p:spPr>
          <a:xfrm>
            <a:off x="960120" y="2560320"/>
            <a:ext cx="4572000" cy="457200"/>
          </a:xfrm>
          <a:prstGeom prst="rect">
            <a:avLst/>
          </a:prstGeom>
          <a:noFill/>
          <a:ln/>
        </p:spPr>
        <p:txBody>
          <a:bodyPr wrap="square" lIns="0" tIns="0" rIns="0" bIns="0" rtlCol="0" anchor="ctr"/>
          <a:lstStyle/>
          <a:p>
            <a:pPr marL="0" indent="0">
              <a:buNone/>
            </a:pPr>
            <a:r>
              <a:rPr lang="en-US" sz="1900" b="1" dirty="0">
                <a:solidFill>
                  <a:srgbClr val="1A2B2C"/>
                </a:solidFill>
                <a:latin typeface="Bookman Old Style" pitchFamily="34" charset="0"/>
                <a:ea typeface="Bookman Old Style" pitchFamily="34" charset="-122"/>
                <a:cs typeface="Bookman Old Style" pitchFamily="34" charset="-120"/>
              </a:rPr>
              <a:t>Offer transport support</a:t>
            </a:r>
            <a:endParaRPr lang="en-US" sz="1900" dirty="0"/>
          </a:p>
        </p:txBody>
      </p:sp>
      <p:sp>
        <p:nvSpPr>
          <p:cNvPr id="8" name="Text 6"/>
          <p:cNvSpPr txBox="1"/>
          <p:nvPr/>
        </p:nvSpPr>
        <p:spPr>
          <a:xfrm>
            <a:off x="960120" y="3063240"/>
            <a:ext cx="4617720" cy="731520"/>
          </a:xfrm>
          <a:prstGeom prst="rect">
            <a:avLst/>
          </a:prstGeom>
          <a:noFill/>
          <a:ln/>
        </p:spPr>
        <p:txBody>
          <a:bodyPr wrap="square" lIns="0" tIns="0" rIns="0" bIns="0" rtlCol="0" anchor="ctr"/>
          <a:lstStyle/>
          <a:p>
            <a:pPr marL="0" indent="0">
              <a:lnSpc>
                <a:spcPct val="120000"/>
              </a:lnSpc>
              <a:buNone/>
            </a:pPr>
            <a:r>
              <a:rPr lang="en-US" sz="1400" dirty="0">
                <a:solidFill>
                  <a:schemeClr val="bg1"/>
                </a:solidFill>
                <a:latin typeface="Calibri" pitchFamily="34" charset="0"/>
                <a:ea typeface="Calibri" pitchFamily="34" charset="-122"/>
                <a:cs typeface="Calibri" pitchFamily="34" charset="-120"/>
              </a:rPr>
              <a:t>Help with travel — such as transport vouchers or shuttle options — for patients in this mid-distance band.</a:t>
            </a:r>
            <a:endParaRPr lang="en-US" sz="1400" dirty="0">
              <a:solidFill>
                <a:schemeClr val="bg1"/>
              </a:solidFill>
            </a:endParaRPr>
          </a:p>
        </p:txBody>
      </p:sp>
      <p:sp>
        <p:nvSpPr>
          <p:cNvPr id="9" name="Shape 7"/>
          <p:cNvSpPr/>
          <p:nvPr/>
        </p:nvSpPr>
        <p:spPr>
          <a:xfrm>
            <a:off x="6172200" y="1783080"/>
            <a:ext cx="5257800" cy="2103120"/>
          </a:xfrm>
          <a:prstGeom prst="roundRect">
            <a:avLst>
              <a:gd name="adj" fmla="val 5217"/>
            </a:avLst>
          </a:prstGeom>
          <a:solidFill>
            <a:srgbClr val="FFFFFF"/>
          </a:solidFill>
          <a:ln/>
          <a:effectLst>
            <a:outerShdw blurRad="101600" dist="38100" dir="5400000" algn="bl" rotWithShape="0">
              <a:srgbClr val="000000">
                <a:alpha val="12000"/>
              </a:srgbClr>
            </a:outerShdw>
          </a:effectLst>
        </p:spPr>
      </p:sp>
      <p:sp>
        <p:nvSpPr>
          <p:cNvPr id="10" name="Shape 8"/>
          <p:cNvSpPr/>
          <p:nvPr/>
        </p:nvSpPr>
        <p:spPr>
          <a:xfrm>
            <a:off x="6492240" y="2057400"/>
            <a:ext cx="1828800" cy="365760"/>
          </a:xfrm>
          <a:prstGeom prst="roundRect">
            <a:avLst>
              <a:gd name="adj" fmla="val 50000"/>
            </a:avLst>
          </a:prstGeom>
          <a:solidFill>
            <a:srgbClr val="D64550"/>
          </a:solidFill>
          <a:ln/>
        </p:spPr>
      </p:sp>
      <p:sp>
        <p:nvSpPr>
          <p:cNvPr id="11" name="Text 9"/>
          <p:cNvSpPr txBox="1"/>
          <p:nvPr/>
        </p:nvSpPr>
        <p:spPr>
          <a:xfrm>
            <a:off x="6492240" y="2057400"/>
            <a:ext cx="18288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30 KM+ AWAY</a:t>
            </a:r>
            <a:endParaRPr lang="en-US" sz="1400" dirty="0"/>
          </a:p>
        </p:txBody>
      </p:sp>
      <p:sp>
        <p:nvSpPr>
          <p:cNvPr id="12" name="Text 10"/>
          <p:cNvSpPr txBox="1"/>
          <p:nvPr/>
        </p:nvSpPr>
        <p:spPr>
          <a:xfrm>
            <a:off x="6492240" y="2560320"/>
            <a:ext cx="4572000" cy="457200"/>
          </a:xfrm>
          <a:prstGeom prst="rect">
            <a:avLst/>
          </a:prstGeom>
          <a:noFill/>
          <a:ln/>
        </p:spPr>
        <p:txBody>
          <a:bodyPr wrap="square" lIns="0" tIns="0" rIns="0" bIns="0" rtlCol="0" anchor="ctr"/>
          <a:lstStyle/>
          <a:p>
            <a:pPr marL="0" indent="0">
              <a:buNone/>
            </a:pPr>
            <a:r>
              <a:rPr lang="en-US" sz="1900" b="1" dirty="0">
                <a:solidFill>
                  <a:srgbClr val="1A2B2C"/>
                </a:solidFill>
                <a:latin typeface="Bookman Old Style" pitchFamily="34" charset="0"/>
                <a:ea typeface="Bookman Old Style" pitchFamily="34" charset="-122"/>
                <a:cs typeface="Bookman Old Style" pitchFamily="34" charset="-120"/>
              </a:rPr>
              <a:t>Send the Mobile Clinic</a:t>
            </a:r>
            <a:endParaRPr lang="en-US" sz="1900" dirty="0"/>
          </a:p>
        </p:txBody>
      </p:sp>
      <p:sp>
        <p:nvSpPr>
          <p:cNvPr id="13" name="Text 11"/>
          <p:cNvSpPr txBox="1"/>
          <p:nvPr/>
        </p:nvSpPr>
        <p:spPr>
          <a:xfrm>
            <a:off x="6537960" y="3017520"/>
            <a:ext cx="4617720" cy="731520"/>
          </a:xfrm>
          <a:prstGeom prst="rect">
            <a:avLst/>
          </a:prstGeom>
          <a:noFill/>
          <a:ln/>
        </p:spPr>
        <p:txBody>
          <a:bodyPr wrap="square" lIns="0" tIns="0" rIns="0" bIns="0" rtlCol="0" anchor="ctr"/>
          <a:lstStyle/>
          <a:p>
            <a:pPr marL="0" indent="0">
              <a:lnSpc>
                <a:spcPct val="120000"/>
              </a:lnSpc>
              <a:buNone/>
            </a:pPr>
            <a:r>
              <a:rPr lang="en-US" sz="1400" dirty="0">
                <a:solidFill>
                  <a:schemeClr val="bg1"/>
                </a:solidFill>
                <a:latin typeface="Calibri" pitchFamily="34" charset="0"/>
                <a:ea typeface="Calibri" pitchFamily="34" charset="-122"/>
                <a:cs typeface="Calibri" pitchFamily="34" charset="-120"/>
              </a:rPr>
              <a:t>Prioritize the 193 High-risk patients first — they carry the greatest risk of missing care.</a:t>
            </a:r>
            <a:endParaRPr lang="en-US" sz="1400" dirty="0">
              <a:solidFill>
                <a:schemeClr val="bg1"/>
              </a:solidFill>
            </a:endParaRPr>
          </a:p>
        </p:txBody>
      </p:sp>
      <p:sp>
        <p:nvSpPr>
          <p:cNvPr id="14" name="Shape 12"/>
          <p:cNvSpPr/>
          <p:nvPr/>
        </p:nvSpPr>
        <p:spPr>
          <a:xfrm>
            <a:off x="640080" y="4069080"/>
            <a:ext cx="5257800" cy="1005840"/>
          </a:xfrm>
          <a:prstGeom prst="roundRect">
            <a:avLst>
              <a:gd name="adj" fmla="val 10909"/>
            </a:avLst>
          </a:prstGeom>
          <a:solidFill>
            <a:srgbClr val="0B3D3F"/>
          </a:solidFill>
          <a:ln/>
        </p:spPr>
      </p:sp>
      <p:sp>
        <p:nvSpPr>
          <p:cNvPr id="15" name="Shape 13"/>
          <p:cNvSpPr/>
          <p:nvPr/>
        </p:nvSpPr>
        <p:spPr>
          <a:xfrm>
            <a:off x="914400" y="4315968"/>
            <a:ext cx="502920" cy="502920"/>
          </a:xfrm>
          <a:prstGeom prst="ellipse">
            <a:avLst/>
          </a:prstGeom>
          <a:solidFill>
            <a:srgbClr val="02C39A"/>
          </a:solidFill>
          <a:ln/>
        </p:spPr>
      </p:sp>
      <p:sp>
        <p:nvSpPr>
          <p:cNvPr id="16" name="Text 14"/>
          <p:cNvSpPr txBox="1"/>
          <p:nvPr/>
        </p:nvSpPr>
        <p:spPr>
          <a:xfrm>
            <a:off x="914400" y="4315968"/>
            <a:ext cx="502920" cy="502920"/>
          </a:xfrm>
          <a:prstGeom prst="rect">
            <a:avLst/>
          </a:prstGeom>
          <a:noFill/>
          <a:ln/>
        </p:spPr>
        <p:txBody>
          <a:bodyPr wrap="square" lIns="0" tIns="0" rIns="0" bIns="0" rtlCol="0" anchor="ctr"/>
          <a:lstStyle/>
          <a:p>
            <a:pPr marL="0" indent="0" algn="ctr">
              <a:buNone/>
            </a:pPr>
            <a:r>
              <a:rPr lang="en-US" sz="2000" b="1" dirty="0">
                <a:solidFill>
                  <a:srgbClr val="0B3D3F"/>
                </a:solidFill>
                <a:latin typeface="Calibri" pitchFamily="34" charset="0"/>
                <a:ea typeface="Calibri" pitchFamily="34" charset="-122"/>
                <a:cs typeface="Calibri" pitchFamily="34" charset="-120"/>
              </a:rPr>
              <a:t>→</a:t>
            </a:r>
            <a:endParaRPr lang="en-US" sz="2000" dirty="0"/>
          </a:p>
        </p:txBody>
      </p:sp>
      <p:sp>
        <p:nvSpPr>
          <p:cNvPr id="17" name="Text 15"/>
          <p:cNvSpPr txBox="1"/>
          <p:nvPr/>
        </p:nvSpPr>
        <p:spPr>
          <a:xfrm>
            <a:off x="1600200" y="4206240"/>
            <a:ext cx="4160520" cy="777240"/>
          </a:xfrm>
          <a:prstGeom prst="rect">
            <a:avLst/>
          </a:prstGeom>
          <a:noFill/>
          <a:ln/>
        </p:spPr>
        <p:txBody>
          <a:bodyPr wrap="square" lIns="0" tIns="0" rIns="0" bIns="0" rtlCol="0" anchor="ctr"/>
          <a:lstStyle/>
          <a:p>
            <a:pPr marL="0" indent="0">
              <a:lnSpc>
                <a:spcPct val="115000"/>
              </a:lnSpc>
              <a:buNone/>
            </a:pPr>
            <a:r>
              <a:rPr lang="en-US" sz="1400" b="1" dirty="0">
                <a:solidFill>
                  <a:srgbClr val="02C39A"/>
                </a:solidFill>
                <a:latin typeface="Calibri" pitchFamily="34" charset="0"/>
                <a:ea typeface="Calibri" pitchFamily="34" charset="-122"/>
                <a:cs typeface="Calibri" pitchFamily="34" charset="-120"/>
              </a:rPr>
              <a:t>Handoff to Engineering:  </a:t>
            </a:r>
            <a:r>
              <a:rPr lang="en-US" sz="1400" dirty="0">
                <a:solidFill>
                  <a:srgbClr val="FFFFFF"/>
                </a:solidFill>
                <a:latin typeface="Calibri" pitchFamily="34" charset="0"/>
                <a:ea typeface="Calibri" pitchFamily="34" charset="-122"/>
                <a:cs typeface="Calibri" pitchFamily="34" charset="-120"/>
              </a:rPr>
              <a:t>build the same risk rule directly into the scheduling system, so every new booking is scored automatically.</a:t>
            </a:r>
            <a:endParaRPr lang="en-US" sz="1400" dirty="0"/>
          </a:p>
        </p:txBody>
      </p:sp>
      <p:sp>
        <p:nvSpPr>
          <p:cNvPr id="18" name="Shape 16"/>
          <p:cNvSpPr/>
          <p:nvPr/>
        </p:nvSpPr>
        <p:spPr>
          <a:xfrm>
            <a:off x="6172200" y="4069080"/>
            <a:ext cx="5257800" cy="2057400"/>
          </a:xfrm>
          <a:prstGeom prst="roundRect">
            <a:avLst>
              <a:gd name="adj" fmla="val 5333"/>
            </a:avLst>
          </a:prstGeom>
          <a:solidFill>
            <a:srgbClr val="028090"/>
          </a:solidFill>
          <a:ln/>
        </p:spPr>
      </p:sp>
      <p:sp>
        <p:nvSpPr>
          <p:cNvPr id="19" name="Text 17"/>
          <p:cNvSpPr txBox="1"/>
          <p:nvPr/>
        </p:nvSpPr>
        <p:spPr>
          <a:xfrm>
            <a:off x="6492240" y="4251960"/>
            <a:ext cx="4572000" cy="320040"/>
          </a:xfrm>
          <a:prstGeom prst="rect">
            <a:avLst/>
          </a:prstGeom>
          <a:noFill/>
          <a:ln/>
        </p:spPr>
        <p:txBody>
          <a:bodyPr wrap="square" lIns="0" tIns="0" rIns="0" bIns="0" rtlCol="0" anchor="ctr"/>
          <a:lstStyle/>
          <a:p>
            <a:pPr marL="0" indent="0">
              <a:buNone/>
            </a:pPr>
            <a:r>
              <a:rPr lang="en-US" sz="1400" b="1" kern="0" spc="150" dirty="0">
                <a:solidFill>
                  <a:srgbClr val="CFE8E6"/>
                </a:solidFill>
                <a:latin typeface="Calibri" pitchFamily="34" charset="0"/>
                <a:ea typeface="Calibri" pitchFamily="34" charset="-122"/>
                <a:cs typeface="Calibri" pitchFamily="34" charset="-120"/>
              </a:rPr>
              <a:t>EXPECTED IMPACT</a:t>
            </a:r>
            <a:endParaRPr lang="en-US" sz="1400" dirty="0"/>
          </a:p>
        </p:txBody>
      </p:sp>
      <p:sp>
        <p:nvSpPr>
          <p:cNvPr id="20" name="Text 18"/>
          <p:cNvSpPr txBox="1"/>
          <p:nvPr/>
        </p:nvSpPr>
        <p:spPr>
          <a:xfrm>
            <a:off x="6492240" y="4526280"/>
            <a:ext cx="2286000" cy="914400"/>
          </a:xfrm>
          <a:prstGeom prst="rect">
            <a:avLst/>
          </a:prstGeom>
          <a:noFill/>
          <a:ln/>
        </p:spPr>
        <p:txBody>
          <a:bodyPr wrap="square" lIns="0" tIns="0" rIns="0" bIns="0" rtlCol="0" anchor="ctr"/>
          <a:lstStyle/>
          <a:p>
            <a:pPr marL="0" indent="0">
              <a:buNone/>
            </a:pPr>
            <a:r>
              <a:rPr lang="en-US" sz="4800" b="1" dirty="0">
                <a:solidFill>
                  <a:srgbClr val="FFFFFF"/>
                </a:solidFill>
                <a:latin typeface="Bookman Old Style" pitchFamily="34" charset="0"/>
                <a:ea typeface="Bookman Old Style" pitchFamily="34" charset="-122"/>
                <a:cs typeface="Bookman Old Style" pitchFamily="34" charset="-120"/>
              </a:rPr>
              <a:t>~107</a:t>
            </a:r>
            <a:endParaRPr lang="en-US" sz="4800" dirty="0"/>
          </a:p>
        </p:txBody>
      </p:sp>
      <p:sp>
        <p:nvSpPr>
          <p:cNvPr id="21" name="Text 19"/>
          <p:cNvSpPr txBox="1"/>
          <p:nvPr/>
        </p:nvSpPr>
        <p:spPr>
          <a:xfrm>
            <a:off x="6492240" y="5440680"/>
            <a:ext cx="4663440" cy="59436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appointments recovered by reaching high-risk patients before they miss their visit</a:t>
            </a:r>
            <a:endParaRPr lang="en-US" sz="1400" dirty="0"/>
          </a:p>
        </p:txBody>
      </p:sp>
      <p:sp>
        <p:nvSpPr>
          <p:cNvPr id="22" name="Text 20"/>
          <p:cNvSpPr txBox="1"/>
          <p:nvPr/>
        </p:nvSpPr>
        <p:spPr>
          <a:xfrm>
            <a:off x="11247120" y="6446520"/>
            <a:ext cx="822960" cy="274320"/>
          </a:xfrm>
          <a:prstGeom prst="rect">
            <a:avLst/>
          </a:prstGeom>
          <a:noFill/>
          <a:ln/>
        </p:spPr>
        <p:txBody>
          <a:bodyPr wrap="square" lIns="0" tIns="0" rIns="0" bIns="0" rtlCol="0" anchor="ctr"/>
          <a:lstStyle/>
          <a:p>
            <a:pPr marL="0" indent="0" algn="r">
              <a:buNone/>
            </a:pPr>
            <a:r>
              <a:rPr lang="en-US" sz="1000" dirty="0">
                <a:solidFill>
                  <a:srgbClr val="5C7A7B"/>
                </a:solidFill>
                <a:latin typeface="Calibri" pitchFamily="34" charset="0"/>
                <a:ea typeface="Calibri" pitchFamily="34" charset="-122"/>
                <a:cs typeface="Calibri" pitchFamily="34" charset="-120"/>
              </a:rPr>
              <a:t>05 / 05</a:t>
            </a:r>
            <a:endParaRPr lang="en-US" sz="1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30</TotalTime>
  <Words>979</Words>
  <Application>Microsoft Office PowerPoint</Application>
  <PresentationFormat>Widescreen</PresentationFormat>
  <Paragraphs>89</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Bookman Old Style</vt: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Lufuno Mulaudzi</cp:lastModifiedBy>
  <cp:revision>4</cp:revision>
  <dcterms:created xsi:type="dcterms:W3CDTF">2026-09-22T18:35:04Z</dcterms:created>
  <dcterms:modified xsi:type="dcterms:W3CDTF">2026-09-24T17:44:52Z</dcterms:modified>
</cp:coreProperties>
</file>